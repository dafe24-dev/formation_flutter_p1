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42" y="-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299" y="3859410"/>
            <a:ext cx="5361549" cy="15212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2401" y="855166"/>
            <a:ext cx="11581447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 dirty="0">
                <a:solidFill>
                  <a:srgbClr val="F8FAFC"/>
                </a:solidFill>
                <a:latin typeface="Poppins"/>
              </a:rPr>
              <a:t>Comment créer un</a:t>
            </a:r>
            <a:r>
              <a:rPr dirty="0"/>
              <a:t>
</a:t>
            </a:r>
            <a:r>
              <a:rPr sz="4200" b="1" i="0" u="none" dirty="0">
                <a:solidFill>
                  <a:srgbClr val="00D2C4"/>
                </a:solidFill>
                <a:latin typeface="Poppins"/>
              </a:rPr>
              <a:t>Modal Bottom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7456" y="2539413"/>
            <a:ext cx="8977086" cy="1012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fr-FR" sz="15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Dans Flutter, le modal prend le plus souvent la forme d'un </a:t>
            </a:r>
            <a:r>
              <a:rPr lang="fr-FR" sz="1500" b="1" dirty="0">
                <a:solidFill>
                  <a:srgbClr val="6DE1E1"/>
                </a:solidFill>
                <a:latin typeface="Inter"/>
              </a:rPr>
              <a:t>Modal Bottom Sheet</a:t>
            </a:r>
            <a:r>
              <a:rPr lang="fr-FR" sz="15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. C'est un conteneur ancré au bas de l'écran qui glisse vers le haut via une animation native. C'est un </a:t>
            </a:r>
            <a:r>
              <a:rPr lang="fr-FR" sz="1500" i="1" dirty="0">
                <a:solidFill>
                  <a:schemeClr val="bg1">
                    <a:lumMod val="85000"/>
                  </a:schemeClr>
                </a:solidFill>
                <a:latin typeface="Inter"/>
              </a:rPr>
              <a:t>Widget temporaire</a:t>
            </a:r>
            <a:r>
              <a:rPr lang="fr-FR" sz="1500" dirty="0">
                <a:solidFill>
                  <a:schemeClr val="bg1">
                    <a:lumMod val="85000"/>
                  </a:schemeClr>
                </a:solidFill>
                <a:latin typeface="Inter"/>
              </a:rPr>
              <a:t> à qui l'on passe le BuildContext actuel pour qu'il s'affiche par-dessus l'arborescence existante sans changer de page (sans utiliser de nouvelle route de navigation complète).</a:t>
            </a:r>
            <a:endParaRPr sz="1500" b="0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58525" y="6238875"/>
            <a:ext cx="552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3325" y="3960959"/>
            <a:ext cx="470535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1600" b="0" i="0" u="none" dirty="0">
                <a:solidFill>
                  <a:srgbClr val="00D2C4"/>
                </a:solidFill>
                <a:latin typeface="Inter SemiBold"/>
              </a:rPr>
              <a:t>PLAN DE L'EXPOSÉ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4" y="4292798"/>
            <a:ext cx="2352675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1. Fondations &amp; MaterialApp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555" y="4292798"/>
            <a:ext cx="2209800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4. Architecture Scaffold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325" y="4583310"/>
            <a:ext cx="2209800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2. StatelessWidget Racine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555" y="4583310"/>
            <a:ext cx="2209800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5. Ouverture showModal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325" y="4873823"/>
            <a:ext cx="2352674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3. StatefulWidget Dynamique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555" y="4873823"/>
            <a:ext cx="2209800" cy="210892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6. Agencement interne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5" y="4321373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555" y="4321373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5" y="4611885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555" y="4611885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5" y="4902398"/>
            <a:ext cx="1428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555" y="4902398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205859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227784"/>
            <a:ext cx="4813548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26" y="4204096"/>
            <a:ext cx="4813548" cy="86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2/8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731442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Point d'entr</a:t>
            </a:r>
            <a:r>
              <a:rPr lang="fr-ML" sz="1500" b="0" i="0" u="none" dirty="0">
                <a:solidFill>
                  <a:srgbClr val="38BDF8"/>
                </a:solidFill>
                <a:latin typeface="Poppins SemiBold"/>
              </a:rPr>
              <a:t>ée</a:t>
            </a:r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 de l'application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201465"/>
            <a:ext cx="2562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import 'package:flutter/material.dart';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41101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C'est la bibliothèque fondamentale contenant tous les composants graphiques préconçus respectant la charte de design de Google (Material Design).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370659"/>
            <a:ext cx="752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void main()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580209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La fonction principale et le point d'entrée absolu. Lorsque le processeur lance l'application, il cherche et exécute cette fonction en premier.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346971"/>
            <a:ext cx="117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runApp(MyApp())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556521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L'instruction qui démarre l'application. Elle prend notre widget racine (MyApp) et l'attache à l'écran du téléphone pour qu'il s'affiche.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1. LES FONDATIONS &amp; POINT D'ENTRÉE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205859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227784"/>
            <a:ext cx="4813548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26" y="4204096"/>
            <a:ext cx="4813548" cy="86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3/8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281683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Squelette de base (MyApp)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201465"/>
            <a:ext cx="1685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extends StatelessWidget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41101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Un composant immuable dont l'apparence ne change jamais de manière interne après avoir été construit. Idéal pour servir de squelette global à l'application.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370659"/>
            <a:ext cx="1790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const MyApp({super.key})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580209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Constructeur optimisé. Le mot-clé const évite les reconstructions inutiles, tandis que la clé unique (key) permet à Flutter de suivre le widget.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346971"/>
            <a:ext cx="1371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MaterialApp &amp;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556521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MaterialApp gère la navigation, les thèmes et la langue. La propriété home définit l'écran d'accueil par défaut de l'application (ici MenuduBas).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2. LE WIDGET RACINE: STATELESSWIDGET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205859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227784"/>
            <a:ext cx="4813548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26" y="4204096"/>
            <a:ext cx="4813548" cy="86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4/8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281683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Séparation en deux classes distinctes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201465"/>
            <a:ext cx="15906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extends StatefulWidget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41101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Conçu pour les écrans dynamiques. Ce widget est capable de se reconstruire et de mettre à jour son affichage lors d'interactions utilisateur.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370659"/>
            <a:ext cx="2571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Règle stricte : Séparation en 2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580209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La première classe est la configuration visible fixe, la deuxième (précédée d'un underscore pour rester privée) contient l'État (State).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346971"/>
            <a:ext cx="866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createState()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556521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Cette méthode permet de lier la classe de configuration statique à la classe d'état privée qui gère toute la logique dynamique.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3. LE WIDGET DYNAMIQUE : STATEFULWIDGET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196215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131343"/>
            <a:ext cx="4813548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4107656"/>
            <a:ext cx="4813548" cy="10548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5/8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561951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Déclaration du Scaffold &amp; du Bouton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105025"/>
            <a:ext cx="552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31457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Structure de base d'une page respectant Material Design. Elle fournit les emplacements standards tels que l'appBar (en-tête) et le body (corps de page).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274218"/>
            <a:ext cx="2266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AppBar hautement personnalisée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483768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Un titre centré ("Accueil"), un fond cyan dynamique et une élévation de 13 pour marquer une ombre prononcée et créer un effet de profondeur.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250531"/>
            <a:ext cx="2743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onPressed: () =&gt; _EcranPrincipal(context)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460081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Fonction fléchée anonyme qui appelle _EcranPrincipal en lui passant le context. Ce contexte est indispensable pour ouvrir la modal par-dessus l'écran actif.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4. ARCHITECTURE DE LA PAGE D'ACCUEIL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196215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131343"/>
            <a:ext cx="4813548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4107656"/>
            <a:ext cx="4813548" cy="10548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6/8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921817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Configuration de l'ouverture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105025"/>
            <a:ext cx="1647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showModalBottomSheet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31457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Fonction asynchrone native de Flutter. Elle suspend temporairement l'interaction avec l'arrière-plan et fait glisser un menu depuis le bas de l'écran.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274218"/>
            <a:ext cx="1514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showDragHandle: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483768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Active l'affichage de la petite encoche grise en haut du menu, invitant graphiquement l'utilisateur à fermer la modal en la glissant vers le bas.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250531"/>
            <a:ext cx="1981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Coins arrondis personnalisés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460081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Grâce à shape et BorderRadius.vertical, seuls les coins supérieurs sont arrondis avec un rayon de 20.0 pixels, éliminant le style rectangulaire rigide.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5. OUVERTURE DU MENU: SHOWMODALBOTTOMSHEET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26" y="1962150"/>
            <a:ext cx="4813548" cy="1054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426" y="3131343"/>
            <a:ext cx="4813548" cy="1054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426" y="4300537"/>
            <a:ext cx="4813548" cy="86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9475" y="6238875"/>
            <a:ext cx="571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7/8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101750"/>
            <a:ext cx="6177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Poppins SemiBold"/>
              </a:rPr>
              <a:t>Structure graphique du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9351" y="2105025"/>
            <a:ext cx="2390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Le Conteneur Physique (Container)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9351" y="2314575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Une hauteur fixe de 400px et 100% de la largeur disponible (double.infinity). Son padding garantit que les éléments ne touchent pas les bords.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9351" y="3274218"/>
            <a:ext cx="21145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La Colonne Directrice (Column)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351" y="3483768"/>
            <a:ext cx="4489698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Aligne tous ses enfants verticalement. Le paramètre crossAxisAlignment.start aligne par défaut les enfants au début de l'axe horizontal (à gauche).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9351" y="4443412"/>
            <a:ext cx="1628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7" b="1" i="0" u="none" dirty="0">
                <a:solidFill>
                  <a:srgbClr val="38BDF8"/>
                </a:solidFill>
                <a:latin typeface="Inter"/>
              </a:rPr>
              <a:t>SizedBox &amp; Espacement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4652962"/>
            <a:ext cx="4489698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94A3B8"/>
                </a:solidFill>
                <a:latin typeface="Inter"/>
              </a:rPr>
              <a:t>Intégration d'éléments SizedBox de hauteurs variées (10, 5, 35 et 15 px) pour créer des sauts de ligne invisibles et aérer l'interface utilisateur.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6. AGENCEMENT INTERNE DU MENU CONTEXTUEL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44365"/>
            <a:ext cx="3549550" cy="20359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2544365"/>
            <a:ext cx="3549699" cy="20359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2544365"/>
            <a:ext cx="3549550" cy="20359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86475"/>
            <a:ext cx="110299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388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STRUCTURE D'APPLICATION 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9950" y="6238875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64748B"/>
                </a:solidFill>
                <a:latin typeface="Inter"/>
              </a:rPr>
              <a:t>SLIDE 8/8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296840"/>
            <a:ext cx="32269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8BDF8"/>
                </a:solidFill>
                <a:latin typeface="Poppins SemiBold"/>
              </a:rPr>
              <a:t>Titres et Textes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49265"/>
            <a:ext cx="307330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94A3B8"/>
                </a:solidFill>
                <a:latin typeface="Inter"/>
              </a:rPr>
              <a:t>Le titre principal est enveloppé dans un </a:t>
            </a:r>
            <a:r>
              <a:rPr sz="975" b="1" i="0" u="none" dirty="0">
                <a:solidFill>
                  <a:srgbClr val="94A3B8"/>
                </a:solidFill>
                <a:latin typeface="Inter"/>
              </a:rPr>
              <a:t>Center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pour forcer son centrage individuel. Le bloc de description est constitué de trois widgets </a:t>
            </a:r>
            <a:r>
              <a:rPr sz="975" b="1" i="0" u="none" dirty="0">
                <a:solidFill>
                  <a:srgbClr val="94A3B8"/>
                </a:solidFill>
                <a:latin typeface="Inter"/>
              </a:rPr>
              <a:t>Row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pour garantir un centrage horizontal optimal.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200" y="3296840"/>
            <a:ext cx="322712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8BDF8"/>
                </a:solidFill>
                <a:latin typeface="Poppins SemiBold"/>
              </a:rPr>
              <a:t>Boutons d'action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200" y="3649265"/>
            <a:ext cx="3073449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94A3B8"/>
                </a:solidFill>
                <a:latin typeface="Inter"/>
              </a:rPr>
              <a:t>Utilise </a:t>
            </a:r>
            <a:r>
              <a:rPr sz="975" b="1" i="0" u="none" dirty="0">
                <a:solidFill>
                  <a:srgbClr val="94A3B8"/>
                </a:solidFill>
                <a:latin typeface="Inter"/>
              </a:rPr>
              <a:t>MainAxisAlignment.spaceAround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 dans des lignes (Row) pour répartir équitablement l'espace libre restant autour et entre les boutons d'action (Thème, Police, Profil).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9400" y="3296840"/>
            <a:ext cx="322696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8BDF8"/>
                </a:solidFill>
                <a:latin typeface="Poppins SemiBold"/>
              </a:rPr>
              <a:t>Philosophie Flutter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400" y="3649265"/>
            <a:ext cx="307330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 dirty="0">
                <a:solidFill>
                  <a:srgbClr val="94A3B8"/>
                </a:solidFill>
                <a:latin typeface="Inter"/>
              </a:rPr>
              <a:t>"Tout est Widget"</a:t>
            </a:r>
            <a:r>
              <a:rPr sz="975" b="0" i="0" u="none" dirty="0">
                <a:solidFill>
                  <a:srgbClr val="94A3B8"/>
                </a:solidFill>
                <a:latin typeface="Inter"/>
              </a:rPr>
              <a:t>. Du point d'entrée au bouton interactif, Flutter assemble des composants modulaires imbriqués pour produire des interfaces complexes de qualité professionnelle.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11065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200" y="2811065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400" y="281106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D2C4"/>
                </a:solidFill>
                <a:latin typeface="Poppins SemiBold"/>
              </a:rPr>
              <a:t>7. DÉTAIL DE LA COLONNE &amp; CONCLUSION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840</Words>
  <Application>Microsoft Office PowerPoint</Application>
  <PresentationFormat>Grand écran</PresentationFormat>
  <Paragraphs>80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Moulaye Idriss Traoré</cp:lastModifiedBy>
  <cp:revision>8</cp:revision>
  <dcterms:created xsi:type="dcterms:W3CDTF">2013-01-27T09:14:16Z</dcterms:created>
  <dcterms:modified xsi:type="dcterms:W3CDTF">2026-07-19T22:32:13Z</dcterms:modified>
  <cp:category/>
</cp:coreProperties>
</file>