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" y="2656433"/>
            <a:ext cx="4515147" cy="23431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0022" y="2656433"/>
            <a:ext cx="6095702" cy="2343150"/>
          </a:xfrm>
          <a:prstGeom prst="rect">
            <a:avLst/>
          </a:prstGeom>
        </p:spPr>
      </p:pic>
      <p:grpSp>
        <p:nvGrpSpPr>
          <p:cNvPr id="24" name="Groupe 23">
            <a:extLst>
              <a:ext uri="{FF2B5EF4-FFF2-40B4-BE49-F238E27FC236}">
                <a16:creationId xmlns:a16="http://schemas.microsoft.com/office/drawing/2014/main" id="{559B8BF1-FB7C-09DE-C71D-383F94E49010}"/>
              </a:ext>
            </a:extLst>
          </p:cNvPr>
          <p:cNvGrpSpPr/>
          <p:nvPr/>
        </p:nvGrpSpPr>
        <p:grpSpPr>
          <a:xfrm>
            <a:off x="676275" y="531699"/>
            <a:ext cx="476250" cy="476250"/>
            <a:chOff x="676275" y="531699"/>
            <a:chExt cx="476250" cy="476250"/>
          </a:xfrm>
        </p:grpSpPr>
        <p:pic>
          <p:nvPicPr>
            <p:cNvPr id="5" name="Picture 4" descr="imag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6275" y="531699"/>
              <a:ext cx="476250" cy="476250"/>
            </a:xfrm>
            <a:prstGeom prst="rect">
              <a:avLst/>
            </a:prstGeom>
          </p:spPr>
        </p:pic>
        <p:pic>
          <p:nvPicPr>
            <p:cNvPr id="6" name="Picture 5" descr="imag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95337" y="636474"/>
              <a:ext cx="238125" cy="266700"/>
            </a:xfrm>
            <a:prstGeom prst="rect">
              <a:avLst/>
            </a:prstGeom>
          </p:spPr>
        </p:pic>
      </p:grpSp>
      <p:sp>
        <p:nvSpPr>
          <p:cNvPr id="7" name="TextBox 6"/>
          <p:cNvSpPr txBox="1"/>
          <p:nvPr/>
        </p:nvSpPr>
        <p:spPr>
          <a:xfrm>
            <a:off x="1343025" y="438150"/>
            <a:ext cx="9505950" cy="427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4400" b="0" i="0" u="none" dirty="0">
                <a:solidFill>
                  <a:srgbClr val="FFFFFF"/>
                </a:solidFill>
                <a:latin typeface="Modern No. 20" panose="02070704070505020303" pitchFamily="18" charset="0"/>
              </a:rPr>
              <a:t>Création d'un Onboarding Flutter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3365" y="846024"/>
            <a:ext cx="5451670" cy="210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400" b="0" i="0" u="none" dirty="0">
                <a:solidFill>
                  <a:srgbClr val="6B7280"/>
                </a:solidFill>
                <a:latin typeface="Plus Jakarta Sans"/>
              </a:rPr>
              <a:t>Analyse d'ingénierie logicielle d'une implémentation réactive sous Flutter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" y="3332708"/>
            <a:ext cx="3924597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 dirty="0">
                <a:solidFill>
                  <a:srgbClr val="9CA3AF"/>
                </a:solidFill>
                <a:latin typeface="Inter"/>
              </a:rPr>
              <a:t>Composant essentiel du parcours d'un utilisateur, l'Onboarding sert à présenter de manière interactive les fonctionnalités clés d'une application avant que l'utilisateur n'accède à l'écran principal. Ce carrousel dynamique vise à maximiser l'engagement et l'adoption utilisateur dès les premières secondes.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550" y="2956470"/>
            <a:ext cx="22860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95400" y="2951708"/>
            <a:ext cx="292036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FFFFFF"/>
                </a:solidFill>
                <a:latin typeface="Plus Jakarta Sans"/>
              </a:rPr>
              <a:t>Qu'est-ce que l'Onboarding ?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297" y="2918370"/>
            <a:ext cx="190500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01047" y="2904083"/>
            <a:ext cx="228028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FFFFFF"/>
                </a:solidFill>
                <a:latin typeface="Plus Jakarta Sans"/>
              </a:rPr>
              <a:t>Plan de l'Exposé (9 Piliers)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297" y="3370808"/>
            <a:ext cx="2657326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12" b="1" i="0" u="none" dirty="0">
                <a:solidFill>
                  <a:srgbClr val="06B6D4"/>
                </a:solidFill>
                <a:latin typeface="JetBrains Mono"/>
              </a:rPr>
              <a:t>01.</a:t>
            </a:r>
            <a:r>
              <a:rPr sz="1012" b="0" i="0" u="none" dirty="0">
                <a:solidFill>
                  <a:srgbClr val="9CA3AF"/>
                </a:solidFill>
                <a:latin typeface="JetBrains Mono"/>
              </a:rPr>
              <a:t> Widget Racine (main/Stateless)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63123" y="3370808"/>
            <a:ext cx="2657326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12" b="1" i="0" u="none" dirty="0">
                <a:solidFill>
                  <a:srgbClr val="06B6D4"/>
                </a:solidFill>
                <a:latin typeface="JetBrains Mono"/>
              </a:rPr>
              <a:t>02.</a:t>
            </a:r>
            <a:r>
              <a:rPr sz="1012" b="0" i="0" u="none" dirty="0">
                <a:solidFill>
                  <a:srgbClr val="9CA3AF"/>
                </a:solidFill>
                <a:latin typeface="JetBrains Mono"/>
              </a:rPr>
              <a:t> Modèle de Données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297" y="3656558"/>
            <a:ext cx="2657326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12" b="1" i="0" u="none" dirty="0">
                <a:solidFill>
                  <a:srgbClr val="06B6D4"/>
                </a:solidFill>
                <a:latin typeface="JetBrains Mono"/>
              </a:rPr>
              <a:t>03.</a:t>
            </a:r>
            <a:r>
              <a:rPr sz="1012" b="0" i="0" u="none" dirty="0">
                <a:solidFill>
                  <a:srgbClr val="9CA3AF"/>
                </a:solidFill>
                <a:latin typeface="JetBrains Mono"/>
              </a:rPr>
              <a:t> StatefulWidget &amp; État Privé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63123" y="3656558"/>
            <a:ext cx="2657326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12" b="1" i="0" u="none" dirty="0">
                <a:solidFill>
                  <a:srgbClr val="06B6D4"/>
                </a:solidFill>
                <a:latin typeface="JetBrains Mono"/>
              </a:rPr>
              <a:t>04.</a:t>
            </a:r>
            <a:r>
              <a:rPr sz="1012" b="0" i="0" u="none" dirty="0">
                <a:solidFill>
                  <a:srgbClr val="9CA3AF"/>
                </a:solidFill>
                <a:latin typeface="JetBrains Mono"/>
              </a:rPr>
              <a:t> Libération Mémoire (dispose)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297" y="3942308"/>
            <a:ext cx="2657326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12" b="1" i="0" u="none" dirty="0">
                <a:solidFill>
                  <a:srgbClr val="06B6D4"/>
                </a:solidFill>
                <a:latin typeface="JetBrains Mono"/>
              </a:rPr>
              <a:t>05.</a:t>
            </a:r>
            <a:r>
              <a:rPr sz="1012" b="0" i="0" u="none" dirty="0">
                <a:solidFill>
                  <a:srgbClr val="9CA3AF"/>
                </a:solidFill>
                <a:latin typeface="JetBrains Mono"/>
              </a:rPr>
              <a:t> Rendu &amp; Superposition (Stack)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63123" y="3942308"/>
            <a:ext cx="2657326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12" b="1" i="0" u="none" dirty="0">
                <a:solidFill>
                  <a:srgbClr val="06B6D4"/>
                </a:solidFill>
                <a:latin typeface="JetBrains Mono"/>
              </a:rPr>
              <a:t>06.</a:t>
            </a:r>
            <a:r>
              <a:rPr sz="1012" b="0" i="0" u="none" dirty="0">
                <a:solidFill>
                  <a:srgbClr val="9CA3AF"/>
                </a:solidFill>
                <a:latin typeface="JetBrains Mono"/>
              </a:rPr>
              <a:t> Défilement (PageView.builder)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297" y="4228058"/>
            <a:ext cx="2657326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12" b="1" i="0" u="none" dirty="0">
                <a:solidFill>
                  <a:srgbClr val="06B6D4"/>
                </a:solidFill>
                <a:latin typeface="JetBrains Mono"/>
              </a:rPr>
              <a:t>07.</a:t>
            </a:r>
            <a:r>
              <a:rPr sz="1012" b="0" i="0" u="none" dirty="0">
                <a:solidFill>
                  <a:srgbClr val="9CA3AF"/>
                </a:solidFill>
                <a:latin typeface="JetBrains Mono"/>
              </a:rPr>
              <a:t> Bouton d'Esquive &amp; Logique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63123" y="4228058"/>
            <a:ext cx="2657326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12" b="1" i="0" u="none" dirty="0">
                <a:solidFill>
                  <a:srgbClr val="06B6D4"/>
                </a:solidFill>
                <a:latin typeface="JetBrains Mono"/>
              </a:rPr>
              <a:t>08.</a:t>
            </a:r>
            <a:r>
              <a:rPr sz="1012" b="0" i="0" u="none" dirty="0">
                <a:solidFill>
                  <a:srgbClr val="9CA3AF"/>
                </a:solidFill>
                <a:latin typeface="JetBrains Mono"/>
              </a:rPr>
              <a:t> Barre de Navigation (Row)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297" y="4513808"/>
            <a:ext cx="5505152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12" b="1" i="0" u="none" dirty="0">
                <a:solidFill>
                  <a:srgbClr val="06B6D4"/>
                </a:solidFill>
                <a:latin typeface="JetBrains Mono"/>
              </a:rPr>
              <a:t>09.</a:t>
            </a:r>
            <a:r>
              <a:rPr sz="1012" b="0" i="0" u="none" dirty="0">
                <a:solidFill>
                  <a:srgbClr val="9CA3AF"/>
                </a:solidFill>
                <a:latin typeface="JetBrains Mono"/>
              </a:rPr>
              <a:t> Indicateurs de Progression Animés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5275" y="5962650"/>
            <a:ext cx="1428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4B5563"/>
                </a:solidFill>
                <a:latin typeface="Plus Jakarta Sans SemiBold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366962"/>
            <a:ext cx="5143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0" i="0" u="none" dirty="0">
                <a:solidFill>
                  <a:srgbClr val="F43F5E"/>
                </a:solidFill>
                <a:latin typeface="JetBrains Mono SemiBold"/>
              </a:rPr>
              <a:t>import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14475" y="2366962"/>
            <a:ext cx="26574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0" i="0" u="none" dirty="0">
                <a:solidFill>
                  <a:srgbClr val="10B981"/>
                </a:solidFill>
                <a:latin typeface="JetBrains Mono"/>
              </a:rPr>
              <a:t>'package:flutter/material.dart'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28912"/>
            <a:ext cx="3429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0" i="0" u="none" dirty="0">
                <a:solidFill>
                  <a:srgbClr val="F43F5E"/>
                </a:solidFill>
                <a:latin typeface="JetBrains Mono SemiBold"/>
              </a:rPr>
              <a:t>void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90862"/>
            <a:ext cx="4286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0" i="0" u="none" dirty="0">
                <a:solidFill>
                  <a:srgbClr val="F43F5E"/>
                </a:solidFill>
                <a:latin typeface="JetBrains Mono SemiBold"/>
              </a:rPr>
              <a:t>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28750" y="3090862"/>
            <a:ext cx="4286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0" i="0" u="none" dirty="0">
                <a:solidFill>
                  <a:srgbClr val="06B6D4"/>
                </a:solidFill>
                <a:latin typeface="JetBrains Mono"/>
              </a:rPr>
              <a:t>MyApp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43100" y="3090862"/>
            <a:ext cx="6000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0" i="0" u="none" dirty="0">
                <a:solidFill>
                  <a:srgbClr val="F43F5E"/>
                </a:solidFill>
                <a:latin typeface="JetBrains Mono SemiBold"/>
              </a:rPr>
              <a:t>extends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8900" y="3090862"/>
            <a:ext cx="12858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0" i="0" u="none" dirty="0">
                <a:solidFill>
                  <a:srgbClr val="06B6D4"/>
                </a:solidFill>
                <a:latin typeface="JetBrains Mono"/>
              </a:rPr>
              <a:t>StatelessWidget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50" y="3271837"/>
            <a:ext cx="4286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0" i="0" u="none" dirty="0">
                <a:solidFill>
                  <a:srgbClr val="F43F5E"/>
                </a:solidFill>
                <a:latin typeface="JetBrains Mono SemiBold"/>
              </a:rPr>
              <a:t>const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00275" y="3271837"/>
            <a:ext cx="4286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0" i="0" u="none" dirty="0">
                <a:solidFill>
                  <a:srgbClr val="F43F5E"/>
                </a:solidFill>
                <a:latin typeface="JetBrains Mono SemiBold"/>
              </a:rPr>
              <a:t>super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5850" y="3633787"/>
            <a:ext cx="7715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0" i="0" u="none" dirty="0">
                <a:solidFill>
                  <a:srgbClr val="F43F5E"/>
                </a:solidFill>
                <a:latin typeface="JetBrains Mono SemiBold"/>
              </a:rPr>
              <a:t>@override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5850" y="3814762"/>
            <a:ext cx="5143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0" i="0" u="none" dirty="0">
                <a:solidFill>
                  <a:srgbClr val="06B6D4"/>
                </a:solidFill>
                <a:latin typeface="JetBrains Mono"/>
              </a:rPr>
              <a:t>Widget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00275" y="3814762"/>
            <a:ext cx="10287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0" i="0" u="none" dirty="0">
                <a:solidFill>
                  <a:srgbClr val="06B6D4"/>
                </a:solidFill>
                <a:latin typeface="JetBrains Mono"/>
              </a:rPr>
              <a:t>BuildContext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7300" y="3995737"/>
            <a:ext cx="5143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0" i="0" u="none" dirty="0">
                <a:solidFill>
                  <a:srgbClr val="F43F5E"/>
                </a:solidFill>
                <a:latin typeface="JetBrains Mono SemiBold"/>
              </a:rPr>
              <a:t>return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29050" y="4176712"/>
            <a:ext cx="4286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0" i="0" u="none" dirty="0">
                <a:solidFill>
                  <a:srgbClr val="F43F5E"/>
                </a:solidFill>
                <a:latin typeface="JetBrains Mono SemiBold"/>
              </a:rPr>
              <a:t>false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7025" y="2246262"/>
            <a:ext cx="48387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 dirty="0">
                <a:solidFill>
                  <a:srgbClr val="FFFFFF"/>
                </a:solidFill>
                <a:latin typeface="Inter SemiBold"/>
              </a:rPr>
              <a:t>Material Design :</a:t>
            </a:r>
            <a:r>
              <a:rPr sz="1200" b="0" i="0" u="none" dirty="0">
                <a:solidFill>
                  <a:srgbClr val="9CA3AF"/>
                </a:solidFill>
                <a:latin typeface="Inter"/>
              </a:rPr>
              <a:t> Importation de la bibliothèque fondamentale de Google pour injecter l'écosystème graphique.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7025" y="2924323"/>
            <a:ext cx="48387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 dirty="0">
                <a:solidFill>
                  <a:srgbClr val="FFFFFF"/>
                </a:solidFill>
                <a:latin typeface="Inter SemiBold"/>
              </a:rPr>
              <a:t>Fonction main() :</a:t>
            </a:r>
            <a:r>
              <a:rPr sz="1200" b="0" i="0" u="none" dirty="0">
                <a:solidFill>
                  <a:srgbClr val="9CA3AF"/>
                </a:solidFill>
                <a:latin typeface="Inter"/>
              </a:rPr>
              <a:t> Point d'exécution universel du compilateur de Dart pour initier l'arbre applicatif.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7025" y="3602384"/>
            <a:ext cx="48387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 dirty="0">
                <a:solidFill>
                  <a:srgbClr val="FFFFFF"/>
                </a:solidFill>
                <a:latin typeface="Inter SemiBold"/>
              </a:rPr>
              <a:t>StatelessWidget :</a:t>
            </a:r>
            <a:r>
              <a:rPr sz="1200" b="0" i="0" u="none" dirty="0">
                <a:solidFill>
                  <a:srgbClr val="9CA3AF"/>
                </a:solidFill>
                <a:latin typeface="Inter"/>
              </a:rPr>
              <a:t> Classe immuable sans état interne mutable pour un démarrage performant.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7025" y="4280445"/>
            <a:ext cx="48387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 dirty="0">
                <a:solidFill>
                  <a:srgbClr val="FFFFFF"/>
                </a:solidFill>
                <a:latin typeface="Inter SemiBold"/>
              </a:rPr>
              <a:t>Bannière masquée :</a:t>
            </a:r>
            <a:r>
              <a:rPr sz="1200" b="0" i="0" u="none" dirty="0">
                <a:solidFill>
                  <a:srgbClr val="9CA3AF"/>
                </a:solidFill>
                <a:latin typeface="Inter"/>
              </a:rPr>
              <a:t> Utilisation de debugShowCheckedModeBanner à false pour épurer l'affichage en pré-production.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225" y="2279600"/>
            <a:ext cx="190500" cy="1809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2225" y="2957661"/>
            <a:ext cx="171450" cy="1809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2225" y="3635722"/>
            <a:ext cx="152400" cy="1809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2225" y="4313783"/>
            <a:ext cx="219075" cy="18097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76275" y="581025"/>
            <a:ext cx="11381422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 dirty="0">
                <a:solidFill>
                  <a:srgbClr val="FFFFFF"/>
                </a:solidFill>
                <a:latin typeface="Plus Jakarta Sans ExtraBold"/>
              </a:rPr>
              <a:t>1. Point d'Entrée &amp; Widget Racine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5275" y="5819775"/>
            <a:ext cx="1714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4B5563"/>
                </a:solidFill>
                <a:latin typeface="Plus Jakarta Sans SemiBol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76275" y="2515790"/>
            <a:ext cx="544068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818CF8"/>
                </a:solidFill>
                <a:latin typeface="Plus Jakarta Sans"/>
              </a:rPr>
              <a:t>Architecture de Données Pure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275" y="2915840"/>
            <a:ext cx="518160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 dirty="0">
                <a:solidFill>
                  <a:srgbClr val="9CA3AF"/>
                </a:solidFill>
                <a:latin typeface="Inter"/>
              </a:rPr>
              <a:t>Formalisation de la structure objet représentant chaque écran d'introduction logique du parcours utilisateur.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175" y="3576637"/>
            <a:ext cx="48387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 dirty="0">
                <a:solidFill>
                  <a:srgbClr val="FFFFFF"/>
                </a:solidFill>
                <a:latin typeface="Inter SemiBold"/>
              </a:rPr>
              <a:t>Immuabilité stricte :</a:t>
            </a:r>
            <a:r>
              <a:rPr sz="1200" b="0" i="0" u="none" dirty="0">
                <a:solidFill>
                  <a:srgbClr val="9CA3AF"/>
                </a:solidFill>
                <a:latin typeface="Inter"/>
              </a:rPr>
              <a:t> Le mot-clé final assure que les variables de configuration sont en lecture seule stricte après instanciation.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9175" y="4254698"/>
            <a:ext cx="48387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 dirty="0">
                <a:solidFill>
                  <a:srgbClr val="FFFFFF"/>
                </a:solidFill>
                <a:latin typeface="Inter SemiBold"/>
              </a:rPr>
              <a:t>Constructeur requis :</a:t>
            </a:r>
            <a:r>
              <a:rPr sz="1200" b="0" i="0" u="none" dirty="0">
                <a:solidFill>
                  <a:srgbClr val="9CA3AF"/>
                </a:solidFill>
                <a:latin typeface="Inter"/>
              </a:rPr>
              <a:t> L'annotation required élimine la possibilité de valeurs nulles, éliminant les crashs graphiques à l'exécution.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72250" y="2728912"/>
            <a:ext cx="4286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0" i="0" u="none" dirty="0">
                <a:solidFill>
                  <a:srgbClr val="F43F5E"/>
                </a:solidFill>
                <a:latin typeface="JetBrains Mono SemiBold"/>
              </a:rPr>
              <a:t>class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600" y="2728912"/>
            <a:ext cx="12001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0" i="0" u="none" dirty="0">
                <a:solidFill>
                  <a:srgbClr val="06B6D4"/>
                </a:solidFill>
                <a:latin typeface="JetBrains Mono"/>
              </a:rPr>
              <a:t>OnboardingItem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43700" y="2909887"/>
            <a:ext cx="4286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0" i="0" u="none" dirty="0">
                <a:solidFill>
                  <a:srgbClr val="F43F5E"/>
                </a:solidFill>
                <a:latin typeface="JetBrains Mono SemiBold"/>
              </a:rPr>
              <a:t>final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58050" y="2909887"/>
            <a:ext cx="5143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0" i="0" u="none" dirty="0">
                <a:solidFill>
                  <a:srgbClr val="06B6D4"/>
                </a:solidFill>
                <a:latin typeface="JetBrains Mono"/>
              </a:rPr>
              <a:t>String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43700" y="3090862"/>
            <a:ext cx="4286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0" i="0" u="none" dirty="0">
                <a:solidFill>
                  <a:srgbClr val="F43F5E"/>
                </a:solidFill>
                <a:latin typeface="JetBrains Mono SemiBold"/>
              </a:rPr>
              <a:t>final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58050" y="3090862"/>
            <a:ext cx="5143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0" i="0" u="none" dirty="0">
                <a:solidFill>
                  <a:srgbClr val="06B6D4"/>
                </a:solidFill>
                <a:latin typeface="JetBrains Mono"/>
              </a:rPr>
              <a:t>String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3700" y="3271837"/>
            <a:ext cx="4286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0" i="0" u="none" dirty="0">
                <a:solidFill>
                  <a:srgbClr val="F43F5E"/>
                </a:solidFill>
                <a:latin typeface="JetBrains Mono SemiBold"/>
              </a:rPr>
              <a:t>final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58050" y="3271837"/>
            <a:ext cx="5143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0" i="0" u="none" dirty="0">
                <a:solidFill>
                  <a:srgbClr val="06B6D4"/>
                </a:solidFill>
                <a:latin typeface="JetBrains Mono"/>
              </a:rPr>
              <a:t>String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15150" y="3814762"/>
            <a:ext cx="6858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0" i="0" u="none" dirty="0">
                <a:solidFill>
                  <a:srgbClr val="F43F5E"/>
                </a:solidFill>
                <a:latin typeface="JetBrains Mono SemiBold"/>
              </a:rPr>
              <a:t>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6675" y="3814762"/>
            <a:ext cx="3429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0" i="0" u="none" dirty="0">
                <a:solidFill>
                  <a:srgbClr val="F43F5E"/>
                </a:solidFill>
                <a:latin typeface="JetBrains Mono SemiBold"/>
              </a:rPr>
              <a:t>this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15150" y="3995737"/>
            <a:ext cx="6858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0" i="0" u="none" dirty="0">
                <a:solidFill>
                  <a:srgbClr val="F43F5E"/>
                </a:solidFill>
                <a:latin typeface="JetBrains Mono SemiBold"/>
              </a:rPr>
              <a:t>required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6675" y="3995737"/>
            <a:ext cx="3429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0" i="0" u="none" dirty="0">
                <a:solidFill>
                  <a:srgbClr val="F43F5E"/>
                </a:solidFill>
                <a:latin typeface="JetBrains Mono SemiBold"/>
              </a:rPr>
              <a:t>this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15150" y="4176712"/>
            <a:ext cx="6858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0" i="0" u="none" dirty="0">
                <a:solidFill>
                  <a:srgbClr val="F43F5E"/>
                </a:solidFill>
                <a:latin typeface="JetBrains Mono SemiBold"/>
              </a:rPr>
              <a:t>required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6675" y="4176712"/>
            <a:ext cx="3429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0" i="0" u="none" dirty="0">
                <a:solidFill>
                  <a:srgbClr val="F43F5E"/>
                </a:solidFill>
                <a:latin typeface="JetBrains Mono SemiBold"/>
              </a:rPr>
              <a:t>this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3609975"/>
            <a:ext cx="152400" cy="18097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76275" y="581025"/>
            <a:ext cx="11381422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 dirty="0">
                <a:solidFill>
                  <a:srgbClr val="FFFFFF"/>
                </a:solidFill>
                <a:latin typeface="Plus Jakarta Sans ExtraBold"/>
              </a:rPr>
              <a:t>2. Modèle de Données Onboarding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5275" y="5819775"/>
            <a:ext cx="1809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4B5563"/>
                </a:solidFill>
                <a:latin typeface="Plus Jakarta Sans SemiBol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457450"/>
            <a:ext cx="4286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0" i="0" u="none" dirty="0">
                <a:solidFill>
                  <a:srgbClr val="F43F5E"/>
                </a:solidFill>
                <a:latin typeface="JetBrains Mono SemiBold"/>
              </a:rPr>
              <a:t>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28750" y="2457450"/>
            <a:ext cx="13716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0" i="0" u="none" dirty="0">
                <a:solidFill>
                  <a:srgbClr val="06B6D4"/>
                </a:solidFill>
                <a:latin typeface="JetBrains Mono"/>
              </a:rPr>
              <a:t>OnboardingScreen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6075" y="2457450"/>
            <a:ext cx="6000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0" i="0" u="none" dirty="0">
                <a:solidFill>
                  <a:srgbClr val="F43F5E"/>
                </a:solidFill>
                <a:latin typeface="JetBrains Mono SemiBold"/>
              </a:rPr>
              <a:t>extends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71875" y="2457450"/>
            <a:ext cx="12001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0" i="0" u="none" dirty="0">
                <a:solidFill>
                  <a:srgbClr val="06B6D4"/>
                </a:solidFill>
                <a:latin typeface="JetBrains Mono"/>
              </a:rPr>
              <a:t>StatefulWidget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5850" y="2638425"/>
            <a:ext cx="4286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0" i="0" u="none" dirty="0">
                <a:solidFill>
                  <a:srgbClr val="F43F5E"/>
                </a:solidFill>
                <a:latin typeface="JetBrains Mono SemiBold"/>
              </a:rPr>
              <a:t>const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43250" y="2638425"/>
            <a:ext cx="4286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0" i="0" u="none" dirty="0">
                <a:solidFill>
                  <a:srgbClr val="F43F5E"/>
                </a:solidFill>
                <a:latin typeface="JetBrains Mono SemiBold"/>
              </a:rPr>
              <a:t>super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850" y="2819400"/>
            <a:ext cx="7715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0" i="0" u="none" dirty="0">
                <a:solidFill>
                  <a:srgbClr val="F43F5E"/>
                </a:solidFill>
                <a:latin typeface="JetBrains Mono SemiBold"/>
              </a:rPr>
              <a:t>@override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50" y="3000375"/>
            <a:ext cx="4286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0" i="0" u="none" dirty="0">
                <a:solidFill>
                  <a:srgbClr val="06B6D4"/>
                </a:solidFill>
                <a:latin typeface="JetBrains Mono"/>
              </a:rPr>
              <a:t>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24275"/>
            <a:ext cx="4286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0" i="0" u="none" dirty="0">
                <a:solidFill>
                  <a:srgbClr val="F43F5E"/>
                </a:solidFill>
                <a:latin typeface="JetBrains Mono SemiBold"/>
              </a:rPr>
              <a:t>class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8750" y="3724275"/>
            <a:ext cx="18859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0" i="0" u="none" dirty="0">
                <a:solidFill>
                  <a:srgbClr val="06B6D4"/>
                </a:solidFill>
                <a:latin typeface="JetBrains Mono"/>
              </a:rPr>
              <a:t>_OnboardingScreenState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7300" y="3905250"/>
            <a:ext cx="6000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0" i="0" u="none" dirty="0">
                <a:solidFill>
                  <a:srgbClr val="F43F5E"/>
                </a:solidFill>
                <a:latin typeface="JetBrains Mono SemiBold"/>
              </a:rPr>
              <a:t>extends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43100" y="3905250"/>
            <a:ext cx="4286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0" i="0" u="none" dirty="0">
                <a:solidFill>
                  <a:srgbClr val="06B6D4"/>
                </a:solidFill>
                <a:latin typeface="JetBrains Mono"/>
              </a:rPr>
              <a:t>State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50" y="4086225"/>
            <a:ext cx="4286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0" i="0" u="none" dirty="0">
                <a:solidFill>
                  <a:srgbClr val="F43F5E"/>
                </a:solidFill>
                <a:latin typeface="JetBrains Mono SemiBold"/>
              </a:rPr>
              <a:t>final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086225"/>
            <a:ext cx="12001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0" i="0" u="none" dirty="0">
                <a:solidFill>
                  <a:srgbClr val="06B6D4"/>
                </a:solidFill>
                <a:latin typeface="JetBrains Mono"/>
              </a:rPr>
              <a:t>PageController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5850" y="4448175"/>
            <a:ext cx="2571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0" i="0" u="none" dirty="0">
                <a:solidFill>
                  <a:srgbClr val="F43F5E"/>
                </a:solidFill>
                <a:latin typeface="JetBrains Mono SemiBold"/>
              </a:rPr>
              <a:t>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5850" y="4629150"/>
            <a:ext cx="4286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0" i="0" u="none" dirty="0">
                <a:solidFill>
                  <a:srgbClr val="F43F5E"/>
                </a:solidFill>
                <a:latin typeface="JetBrains Mono SemiBold"/>
              </a:rPr>
              <a:t>final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629150"/>
            <a:ext cx="3429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0" i="0" u="none" dirty="0">
                <a:solidFill>
                  <a:srgbClr val="06B6D4"/>
                </a:solidFill>
                <a:latin typeface="JetBrains Mono"/>
              </a:rPr>
              <a:t>List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28825" y="4629150"/>
            <a:ext cx="12001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0" i="0" u="none" dirty="0">
                <a:solidFill>
                  <a:srgbClr val="06B6D4"/>
                </a:solidFill>
                <a:latin typeface="JetBrains Mono"/>
              </a:rPr>
              <a:t>OnboardingItem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7025" y="2707183"/>
            <a:ext cx="48387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 dirty="0">
                <a:solidFill>
                  <a:srgbClr val="FFFFFF"/>
                </a:solidFill>
                <a:latin typeface="Inter SemiBold"/>
              </a:rPr>
              <a:t>Pattern de Séparation :</a:t>
            </a:r>
            <a:r>
              <a:rPr sz="1200" b="0" i="0" u="none" dirty="0">
                <a:solidFill>
                  <a:srgbClr val="9CA3AF"/>
                </a:solidFill>
                <a:latin typeface="Inter"/>
              </a:rPr>
              <a:t> Découplage de la configuration d'affichage et de l'état persistant avec l'objet State.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7025" y="3385244"/>
            <a:ext cx="48387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 dirty="0">
                <a:solidFill>
                  <a:srgbClr val="FFFFFF"/>
                </a:solidFill>
                <a:latin typeface="Inter SemiBold"/>
              </a:rPr>
              <a:t>PageController :</a:t>
            </a:r>
            <a:r>
              <a:rPr sz="1200" b="0" i="0" u="none" dirty="0">
                <a:solidFill>
                  <a:srgbClr val="9CA3AF"/>
                </a:solidFill>
                <a:latin typeface="Inter"/>
              </a:rPr>
              <a:t> Orchestrateur de navigation capable d'écouter les événements et d'animer dynamiquement les défilements.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7025" y="4063305"/>
            <a:ext cx="48387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 dirty="0">
                <a:solidFill>
                  <a:srgbClr val="FFFFFF"/>
                </a:solidFill>
                <a:latin typeface="Inter SemiBold"/>
              </a:rPr>
              <a:t>pageactu :</a:t>
            </a:r>
            <a:r>
              <a:rPr sz="1200" b="0" i="0" u="none" dirty="0">
                <a:solidFill>
                  <a:srgbClr val="9CA3AF"/>
                </a:solidFill>
                <a:latin typeface="Inter"/>
              </a:rPr>
              <a:t> Registre d'index conservé à chaud pour piloter l'indexation réactive des micro-indicateurs d'étape.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225" y="2740521"/>
            <a:ext cx="171450" cy="1809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2225" y="3418582"/>
            <a:ext cx="219075" cy="1809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2225" y="4096642"/>
            <a:ext cx="152400" cy="1809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76275" y="581025"/>
            <a:ext cx="11381422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 dirty="0">
                <a:solidFill>
                  <a:srgbClr val="FFFFFF"/>
                </a:solidFill>
                <a:latin typeface="Plus Jakarta Sans ExtraBold"/>
              </a:rPr>
              <a:t>3. StatefulWidget &amp; État Privé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5275" y="5819775"/>
            <a:ext cx="1809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4B5563"/>
                </a:solidFill>
                <a:latin typeface="Plus Jakarta Sans SemiBol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" y="2543175"/>
            <a:ext cx="3793777" cy="2362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" y="2981325"/>
            <a:ext cx="3203227" cy="1143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71550" y="4267200"/>
            <a:ext cx="3203227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 dirty="0">
                <a:solidFill>
                  <a:srgbClr val="A5B4FC"/>
                </a:solidFill>
                <a:latin typeface="Inter"/>
              </a:rPr>
              <a:t>Fuites mémoire tolérées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46302" y="2298650"/>
            <a:ext cx="7245697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818CF8"/>
                </a:solidFill>
                <a:latin typeface="Plus Jakarta Sans"/>
              </a:rPr>
              <a:t>Gestion du Cycle de Vie (dispose)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46302" y="2698700"/>
            <a:ext cx="7045523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 dirty="0">
                <a:solidFill>
                  <a:srgbClr val="9CA3AF"/>
                </a:solidFill>
                <a:latin typeface="Inter"/>
              </a:rPr>
              <a:t>Étape d'ingénierie indispensable pour libérer manuellement les ressources et éviter les dégradations de performance.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89202" y="3359497"/>
            <a:ext cx="6702623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 dirty="0">
                <a:solidFill>
                  <a:srgbClr val="FFFFFF"/>
                </a:solidFill>
                <a:latin typeface="Inter SemiBold"/>
              </a:rPr>
              <a:t>Hook de destruction :</a:t>
            </a:r>
            <a:r>
              <a:rPr sz="1200" b="0" i="0" u="none" dirty="0">
                <a:solidFill>
                  <a:srgbClr val="9CA3AF"/>
                </a:solidFill>
                <a:latin typeface="Inter"/>
              </a:rPr>
              <a:t> Exécuté automatiquement dès que l'Onboarding est éjecté du graphe de navigation.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89202" y="4037558"/>
            <a:ext cx="6702623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 dirty="0">
                <a:solidFill>
                  <a:srgbClr val="FFFFFF"/>
                </a:solidFill>
                <a:latin typeface="Inter SemiBold"/>
              </a:rPr>
              <a:t>Controller dispose :</a:t>
            </a:r>
            <a:r>
              <a:rPr sz="1200" b="0" i="0" u="none" dirty="0">
                <a:solidFill>
                  <a:srgbClr val="9CA3AF"/>
                </a:solidFill>
                <a:latin typeface="Inter"/>
              </a:rPr>
              <a:t> Fermeture du flux matériel de _pageController pour libérer instantanément le GPU de la RAM.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89202" y="4715619"/>
            <a:ext cx="6702623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 dirty="0">
                <a:solidFill>
                  <a:srgbClr val="FFFFFF"/>
                </a:solidFill>
                <a:latin typeface="Inter SemiBold"/>
              </a:rPr>
              <a:t>Cascade parent :</a:t>
            </a:r>
            <a:r>
              <a:rPr sz="1200" b="0" i="0" u="none" dirty="0">
                <a:solidFill>
                  <a:srgbClr val="9CA3AF"/>
                </a:solidFill>
                <a:latin typeface="Inter"/>
              </a:rPr>
              <a:t> Appel obligatoire de super.dispose() en bout de chaîne.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4402" y="3392834"/>
            <a:ext cx="171450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4402" y="4070895"/>
            <a:ext cx="171450" cy="180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4402" y="4748956"/>
            <a:ext cx="171450" cy="1809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6275" y="581025"/>
            <a:ext cx="11381422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 dirty="0">
                <a:solidFill>
                  <a:srgbClr val="FFFFFF"/>
                </a:solidFill>
                <a:latin typeface="Plus Jakarta Sans ExtraBold"/>
              </a:rPr>
              <a:t>4. Libération de la Mémoire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5275" y="5819775"/>
            <a:ext cx="1809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4B5563"/>
                </a:solidFill>
                <a:latin typeface="Plus Jakarta Sans SemiBol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76275" y="2515790"/>
            <a:ext cx="544068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818CF8"/>
                </a:solidFill>
                <a:latin typeface="Plus Jakarta Sans"/>
              </a:rPr>
              <a:t>Calques en 3 Dimensions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275" y="2915840"/>
            <a:ext cx="518160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 dirty="0">
                <a:solidFill>
                  <a:srgbClr val="9CA3AF"/>
                </a:solidFill>
                <a:latin typeface="Inter"/>
              </a:rPr>
              <a:t>Création d'une interface immersive multi-couches superposant les modules de contrôle au-dessus du décor de fond.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175" y="3576637"/>
            <a:ext cx="48387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 dirty="0">
                <a:solidFill>
                  <a:srgbClr val="FFFFFF"/>
                </a:solidFill>
                <a:latin typeface="Inter SemiBold"/>
              </a:rPr>
              <a:t>Scaffold :</a:t>
            </a:r>
            <a:r>
              <a:rPr sz="1200" b="0" i="0" u="none" dirty="0">
                <a:solidFill>
                  <a:srgbClr val="9CA3AF"/>
                </a:solidFill>
                <a:latin typeface="Inter"/>
              </a:rPr>
              <a:t> Canevas structurel complet sans AppBar pour garantir que l'application s'étende de bord à bord.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9175" y="4254698"/>
            <a:ext cx="48387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 dirty="0">
                <a:solidFill>
                  <a:srgbClr val="FFFFFF"/>
                </a:solidFill>
                <a:latin typeface="Inter SemiBold"/>
              </a:rPr>
              <a:t>Stack (La pile) :</a:t>
            </a:r>
            <a:r>
              <a:rPr sz="1200" b="0" i="0" u="none" dirty="0">
                <a:solidFill>
                  <a:srgbClr val="9CA3AF"/>
                </a:solidFill>
                <a:latin typeface="Inter"/>
              </a:rPr>
              <a:t> Moteur d'empilement 2.5D dessinant séquentiellement les widgets de l'arrière-plan vers le premier plan.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72250" y="2185987"/>
            <a:ext cx="7715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0" i="0" u="none" dirty="0">
                <a:solidFill>
                  <a:srgbClr val="F43F5E"/>
                </a:solidFill>
                <a:latin typeface="JetBrains Mono SemiBold"/>
              </a:rPr>
              <a:t>@override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72250" y="2366962"/>
            <a:ext cx="5143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0" i="0" u="none" dirty="0">
                <a:solidFill>
                  <a:srgbClr val="06B6D4"/>
                </a:solidFill>
                <a:latin typeface="JetBrains Mono"/>
              </a:rPr>
              <a:t>Widget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6675" y="2366962"/>
            <a:ext cx="10287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0" i="0" u="none" dirty="0">
                <a:solidFill>
                  <a:srgbClr val="06B6D4"/>
                </a:solidFill>
                <a:latin typeface="JetBrains Mono"/>
              </a:rPr>
              <a:t>BuildContext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43700" y="2547937"/>
            <a:ext cx="5143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0" i="0" u="none" dirty="0">
                <a:solidFill>
                  <a:srgbClr val="F43F5E"/>
                </a:solidFill>
                <a:latin typeface="JetBrains Mono SemiBold"/>
              </a:rPr>
              <a:t>return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58050" y="3090862"/>
            <a:ext cx="30003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0" i="1" u="none" dirty="0">
                <a:solidFill>
                  <a:srgbClr val="6B7280"/>
                </a:solidFill>
                <a:latin typeface="JetBrains Mono"/>
              </a:rPr>
              <a:t>// 1. Le défilement d'images (Fond)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58050" y="3452812"/>
            <a:ext cx="29146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0" i="1" u="none" dirty="0">
                <a:solidFill>
                  <a:srgbClr val="6B7280"/>
                </a:solidFill>
                <a:latin typeface="JetBrains Mono"/>
              </a:rPr>
              <a:t>// 2. Bouton "Passer" (Haut droit)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58050" y="3814762"/>
            <a:ext cx="32575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0" i="1" u="none" dirty="0">
                <a:solidFill>
                  <a:srgbClr val="6B7280"/>
                </a:solidFill>
                <a:latin typeface="JetBrains Mono"/>
              </a:rPr>
              <a:t>// 3. Indicateurs de page (Bas milieu)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58050" y="4176712"/>
            <a:ext cx="28289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0" i="1" u="none" dirty="0">
                <a:solidFill>
                  <a:srgbClr val="6B7280"/>
                </a:solidFill>
                <a:latin typeface="JetBrains Mono"/>
              </a:rPr>
              <a:t>// 4. Boutons de navigation (Bas)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3609975"/>
            <a:ext cx="190500" cy="1809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4288035"/>
            <a:ext cx="190500" cy="1809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76275" y="581025"/>
            <a:ext cx="11381422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 dirty="0">
                <a:solidFill>
                  <a:srgbClr val="FFFFFF"/>
                </a:solidFill>
                <a:latin typeface="Plus Jakarta Sans ExtraBold"/>
              </a:rPr>
              <a:t>5. Rendu Principal &amp; Superposition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5275" y="5819775"/>
            <a:ext cx="1714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4B5563"/>
                </a:solidFill>
                <a:latin typeface="Plus Jakarta Sans SemiBol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57450" y="2457450"/>
            <a:ext cx="2571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0" i="0" u="none" dirty="0">
                <a:solidFill>
                  <a:srgbClr val="F43F5E"/>
                </a:solidFill>
                <a:latin typeface="JetBrains Mono SemiBold"/>
              </a:rPr>
              <a:t>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57300" y="3543300"/>
            <a:ext cx="4286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0" i="0" u="none" dirty="0">
                <a:solidFill>
                  <a:srgbClr val="F43F5E"/>
                </a:solidFill>
                <a:latin typeface="JetBrains Mono SemiBold"/>
              </a:rPr>
              <a:t>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7300" y="3724275"/>
            <a:ext cx="5143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0" i="0" u="none" dirty="0">
                <a:solidFill>
                  <a:srgbClr val="F43F5E"/>
                </a:solidFill>
                <a:latin typeface="JetBrains Mono SemiBold"/>
              </a:rPr>
              <a:t>return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14700" y="4267200"/>
            <a:ext cx="30861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0" i="0" u="none" dirty="0">
                <a:solidFill>
                  <a:srgbClr val="10B981"/>
                </a:solidFill>
                <a:latin typeface="JetBrains Mono"/>
              </a:rPr>
              <a:t>"assets/${item.backgroundImagePath}"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9525" y="2341512"/>
            <a:ext cx="38862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 dirty="0">
                <a:solidFill>
                  <a:srgbClr val="FFFFFF"/>
                </a:solidFill>
                <a:latin typeface="Inter SemiBold"/>
              </a:rPr>
              <a:t>Allocation dynamique :</a:t>
            </a:r>
            <a:r>
              <a:rPr sz="1200" b="0" i="0" u="none" dirty="0">
                <a:solidFill>
                  <a:srgbClr val="9CA3AF"/>
                </a:solidFill>
                <a:latin typeface="Inter"/>
              </a:rPr>
              <a:t> Le constructeur .builder génère uniquement les pages affichées, épargnant la charge de calcul CPU.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9525" y="3263354"/>
            <a:ext cx="38862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 dirty="0">
                <a:solidFill>
                  <a:srgbClr val="FFFFFF"/>
                </a:solidFill>
                <a:latin typeface="Inter SemiBold"/>
              </a:rPr>
              <a:t>Mise à jour d'état :</a:t>
            </a:r>
            <a:r>
              <a:rPr sz="1200" b="0" i="0" u="none" dirty="0">
                <a:solidFill>
                  <a:srgbClr val="9CA3AF"/>
                </a:solidFill>
                <a:latin typeface="Inter"/>
              </a:rPr>
              <a:t> setState() propage instantanément l'index courant au reste de l'architecture lors du balayage tactile.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9525" y="4185195"/>
            <a:ext cx="38862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 dirty="0">
                <a:solidFill>
                  <a:srgbClr val="FFFFFF"/>
                </a:solidFill>
                <a:latin typeface="Inter SemiBold"/>
              </a:rPr>
              <a:t>BoxFit.cover :</a:t>
            </a:r>
            <a:r>
              <a:rPr sz="1200" b="0" i="0" u="none" dirty="0">
                <a:solidFill>
                  <a:srgbClr val="9CA3AF"/>
                </a:solidFill>
                <a:latin typeface="Inter"/>
              </a:rPr>
              <a:t> Algorithme d'ajustement dynamique de l'image de fond pour épouser toutes les résolutions d'écrans.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4725" y="2374850"/>
            <a:ext cx="152400" cy="180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4725" y="3296691"/>
            <a:ext cx="171450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4725" y="4218533"/>
            <a:ext cx="171450" cy="1809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6275" y="581025"/>
            <a:ext cx="11381422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 dirty="0">
                <a:solidFill>
                  <a:srgbClr val="FFFFFF"/>
                </a:solidFill>
                <a:latin typeface="Plus Jakarta Sans ExtraBold"/>
              </a:rPr>
              <a:t>6. Moteur de Défilement Performant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5275" y="5819775"/>
            <a:ext cx="1714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4B5563"/>
                </a:solidFill>
                <a:latin typeface="Plus Jakarta Sans SemiBol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76275" y="2507158"/>
            <a:ext cx="544068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818CF8"/>
                </a:solidFill>
                <a:latin typeface="Plus Jakarta Sans"/>
              </a:rPr>
              <a:t>Zapping Intelligent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175" y="2907208"/>
            <a:ext cx="48387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 dirty="0">
                <a:solidFill>
                  <a:srgbClr val="FFFFFF"/>
                </a:solidFill>
                <a:latin typeface="Inter SemiBold"/>
              </a:rPr>
              <a:t>Positionnement absolu :</a:t>
            </a:r>
            <a:r>
              <a:rPr sz="1200" b="0" i="0" u="none" dirty="0">
                <a:solidFill>
                  <a:srgbClr val="9CA3AF"/>
                </a:solidFill>
                <a:latin typeface="Inter"/>
              </a:rPr>
              <a:t> Intégration via Positioned pour forcer le composant à survoler le calque de fond à 30px du sommet.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175" y="3585269"/>
            <a:ext cx="48387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 dirty="0">
                <a:solidFill>
                  <a:srgbClr val="FFFFFF"/>
                </a:solidFill>
                <a:latin typeface="Inter SemiBold"/>
              </a:rPr>
              <a:t>Évaluation ternaire :</a:t>
            </a:r>
            <a:r>
              <a:rPr sz="1200" b="0" i="0" u="none" dirty="0">
                <a:solidFill>
                  <a:srgbClr val="9CA3AF"/>
                </a:solidFill>
                <a:latin typeface="Inter"/>
              </a:rPr>
              <a:t> Le bouton s'affiche sélectivement (SizedBox.shrink() masqué lors de l'accès à la dernière page).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9175" y="4263330"/>
            <a:ext cx="48387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 dirty="0">
                <a:solidFill>
                  <a:srgbClr val="FFFFFF"/>
                </a:solidFill>
                <a:latin typeface="Inter SemiBold"/>
              </a:rPr>
              <a:t>animateToPage :</a:t>
            </a:r>
            <a:r>
              <a:rPr sz="1200" b="0" i="0" u="none" dirty="0">
                <a:solidFill>
                  <a:srgbClr val="9CA3AF"/>
                </a:solidFill>
                <a:latin typeface="Inter"/>
              </a:rPr>
              <a:t> Transition cinématique millimétrée (400ms) exploitant un profil élastique de rebond.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58200" y="4448175"/>
            <a:ext cx="6858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0" i="0" u="none" dirty="0">
                <a:solidFill>
                  <a:srgbClr val="10B981"/>
                </a:solidFill>
                <a:latin typeface="JetBrains Mono"/>
              </a:rPr>
              <a:t>"Passer"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2940546"/>
            <a:ext cx="219075" cy="1809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3618607"/>
            <a:ext cx="152400" cy="180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4296667"/>
            <a:ext cx="190500" cy="1809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6275" y="581025"/>
            <a:ext cx="11381422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 dirty="0">
                <a:solidFill>
                  <a:srgbClr val="FFFFFF"/>
                </a:solidFill>
                <a:latin typeface="Plus Jakarta Sans ExtraBold"/>
              </a:rPr>
              <a:t>7. Bouton d'Esquive &amp; Logique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5275" y="5819775"/>
            <a:ext cx="1809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4B5563"/>
                </a:solidFill>
                <a:latin typeface="Plus Jakarta Sans SemiBol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" y="2543175"/>
            <a:ext cx="3460700" cy="2362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5575" y="2543175"/>
            <a:ext cx="3460700" cy="2362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4875" y="2543175"/>
            <a:ext cx="3460700" cy="2362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71550" y="3429000"/>
            <a:ext cx="3013657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FFFFFF"/>
                </a:solidFill>
                <a:latin typeface="Plus Jakarta Sans"/>
              </a:rPr>
              <a:t>Disposition Row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3781425"/>
            <a:ext cx="2870150" cy="828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087" b="0" i="0" u="none" dirty="0">
                <a:solidFill>
                  <a:srgbClr val="9CA3AF"/>
                </a:solidFill>
                <a:latin typeface="Inter"/>
              </a:rPr>
              <a:t>Alignement horizontal optimisé par Row et MainAxisAlignment.spaceBetween pour maintenir une géométrie irréprochable de part et d'autre de l'appareil.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0850" y="3429000"/>
            <a:ext cx="3013657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FFFFFF"/>
                </a:solidFill>
                <a:latin typeface="Plus Jakarta Sans"/>
              </a:rPr>
              <a:t>Flèche Retour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0850" y="3781425"/>
            <a:ext cx="2870150" cy="828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087" b="0" i="0" u="none" dirty="0">
                <a:solidFill>
                  <a:srgbClr val="9CA3AF"/>
                </a:solidFill>
                <a:latin typeface="Inter"/>
              </a:rPr>
              <a:t>Injectée conditionnellement à partir de la page 1. Remplacée par un bloc vide dimensionnel fixe pour préserver l'alignement bilatéral.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50150" y="3429000"/>
            <a:ext cx="3013657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FFFFFF"/>
                </a:solidFill>
                <a:latin typeface="Plus Jakarta Sans"/>
              </a:rPr>
              <a:t>Transitions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0150" y="3781425"/>
            <a:ext cx="2870150" cy="828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087" b="0" i="0" u="none" dirty="0">
                <a:solidFill>
                  <a:srgbClr val="9CA3AF"/>
                </a:solidFill>
                <a:latin typeface="Inter"/>
              </a:rPr>
              <a:t>Méthodes natives du PageController pilotant les animations de balayage vers les indices de page adjacents via une courbe d'interpolation douce.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" y="2895600"/>
            <a:ext cx="304800" cy="304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850" y="2895600"/>
            <a:ext cx="266700" cy="304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6275" y="581025"/>
            <a:ext cx="11381422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 dirty="0">
                <a:solidFill>
                  <a:srgbClr val="FFFFFF"/>
                </a:solidFill>
                <a:latin typeface="Plus Jakarta Sans ExtraBold"/>
              </a:rPr>
              <a:t>8. Barre de Navigation Interactive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5275" y="5819775"/>
            <a:ext cx="1714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4B5563"/>
                </a:solidFill>
                <a:latin typeface="Plus Jakarta Sans SemiBol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34125" y="2507158"/>
            <a:ext cx="544068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818CF8"/>
                </a:solidFill>
                <a:latin typeface="Plus Jakarta Sans"/>
              </a:rPr>
              <a:t>Animation Chenille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6075" y="2457450"/>
            <a:ext cx="3429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0" i="0" u="none" dirty="0">
                <a:solidFill>
                  <a:srgbClr val="F43F5E"/>
                </a:solidFill>
                <a:latin typeface="JetBrains Mono SemiBold"/>
              </a:rPr>
              <a:t>bool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5850" y="2638425"/>
            <a:ext cx="5143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0" i="0" u="none" dirty="0">
                <a:solidFill>
                  <a:srgbClr val="F43F5E"/>
                </a:solidFill>
                <a:latin typeface="JetBrains Mono SemiBold"/>
              </a:rPr>
              <a:t>return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7025" y="2907208"/>
            <a:ext cx="48387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 dirty="0">
                <a:solidFill>
                  <a:srgbClr val="FFFFFF"/>
                </a:solidFill>
                <a:latin typeface="Inter SemiBold"/>
              </a:rPr>
              <a:t>Génération dynamique :</a:t>
            </a:r>
            <a:r>
              <a:rPr sz="1200" b="0" i="0" u="none" dirty="0">
                <a:solidFill>
                  <a:srgbClr val="9CA3AF"/>
                </a:solidFill>
                <a:latin typeface="Inter"/>
              </a:rPr>
              <a:t> La méthode List.generate() boucle sur la longueur pour mapper l'activité à chaque indicateur.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7025" y="3585269"/>
            <a:ext cx="48387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 dirty="0">
                <a:solidFill>
                  <a:srgbClr val="FFFFFF"/>
                </a:solidFill>
                <a:latin typeface="Inter SemiBold"/>
              </a:rPr>
              <a:t>AnimatedContainer :</a:t>
            </a:r>
            <a:r>
              <a:rPr sz="1200" b="0" i="0" u="none" dirty="0">
                <a:solidFill>
                  <a:srgbClr val="9CA3AF"/>
                </a:solidFill>
                <a:latin typeface="Inter"/>
              </a:rPr>
              <a:t> Interpolateur automatique modifiant l'aspect visuel (taille et teinte) sur 150ms de transition.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7025" y="4263330"/>
            <a:ext cx="48387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 dirty="0">
                <a:solidFill>
                  <a:srgbClr val="FFFFFF"/>
                </a:solidFill>
                <a:latin typeface="Inter SemiBold"/>
              </a:rPr>
              <a:t>Étirage intelligent :</a:t>
            </a:r>
            <a:r>
              <a:rPr sz="1200" b="0" i="0" u="none" dirty="0">
                <a:solidFill>
                  <a:srgbClr val="9CA3AF"/>
                </a:solidFill>
                <a:latin typeface="Inter"/>
              </a:rPr>
              <a:t> Expansion à 20px pour l'index actif, rétrécissement à 8px pour les composants passifs.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225" y="2940546"/>
            <a:ext cx="219075" cy="180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2225" y="3618607"/>
            <a:ext cx="171450" cy="180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2225" y="4296667"/>
            <a:ext cx="171450" cy="1809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76275" y="581025"/>
            <a:ext cx="11381422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 dirty="0">
                <a:solidFill>
                  <a:srgbClr val="FFFFFF"/>
                </a:solidFill>
                <a:latin typeface="Plus Jakarta Sans ExtraBold"/>
              </a:rPr>
              <a:t>9. Indicateurs de Progression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275" y="5819775"/>
            <a:ext cx="1428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4B5563"/>
                </a:solidFill>
                <a:latin typeface="Plus Jakarta Sans Semi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5288" y="581025"/>
            <a:ext cx="11381422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fr-FR" sz="6000" b="0" i="0" u="none" dirty="0">
                <a:solidFill>
                  <a:srgbClr val="FFFFFF"/>
                </a:solidFill>
                <a:latin typeface="Plus Jakarta Sans ExtraBold"/>
              </a:rPr>
              <a:t>Merci pour votre attention</a:t>
            </a:r>
            <a:endParaRPr sz="6000" b="0" i="0" u="none" dirty="0">
              <a:solidFill>
                <a:srgbClr val="FFFFFF"/>
              </a:solidFill>
              <a:latin typeface="Plus Jakarta Sans ExtraBold"/>
            </a:endParaRP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9A911012-C633-422D-4D9D-E6F4E3F453D0}"/>
              </a:ext>
            </a:extLst>
          </p:cNvPr>
          <p:cNvGrpSpPr/>
          <p:nvPr/>
        </p:nvGrpSpPr>
        <p:grpSpPr>
          <a:xfrm>
            <a:off x="676275" y="2405129"/>
            <a:ext cx="10839450" cy="314325"/>
            <a:chOff x="676275" y="2433265"/>
            <a:chExt cx="10839450" cy="314325"/>
          </a:xfrm>
        </p:grpSpPr>
        <p:sp>
          <p:nvSpPr>
            <p:cNvPr id="5" name="TextBox 4"/>
            <p:cNvSpPr txBox="1"/>
            <p:nvPr/>
          </p:nvSpPr>
          <p:spPr>
            <a:xfrm>
              <a:off x="676275" y="2433265"/>
              <a:ext cx="10839450" cy="314325"/>
            </a:xfrm>
            <a:prstGeom prst="rect">
              <a:avLst/>
            </a:prstGeom>
            <a:noFill/>
          </p:spPr>
          <p:txBody>
            <a:bodyPr wrap="square" lIns="385762" tIns="0" rIns="0" bIns="0" anchor="t">
              <a:spAutoFit/>
            </a:bodyPr>
            <a:lstStyle/>
            <a:p>
              <a:pPr algn="ctr"/>
              <a:r>
                <a:rPr sz="1650" b="0" i="0" u="none" dirty="0">
                  <a:solidFill>
                    <a:srgbClr val="06B6D4"/>
                  </a:solidFill>
                  <a:latin typeface="Plus Jakarta Sans SemiBold"/>
                </a:rPr>
                <a:t> Écosystème Flutter &amp; Dart</a:t>
              </a:r>
            </a:p>
          </p:txBody>
        </p:sp>
        <p:pic>
          <p:nvPicPr>
            <p:cNvPr id="6" name="Picture 5" descr="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12468" y="2433265"/>
              <a:ext cx="271462" cy="304800"/>
            </a:xfrm>
            <a:prstGeom prst="rect">
              <a:avLst/>
            </a:prstGeom>
          </p:spPr>
        </p:pic>
      </p:grpSp>
      <p:sp>
        <p:nvSpPr>
          <p:cNvPr id="7" name="TextBox 6"/>
          <p:cNvSpPr txBox="1"/>
          <p:nvPr/>
        </p:nvSpPr>
        <p:spPr>
          <a:xfrm>
            <a:off x="295275" y="2743200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4B5563"/>
                </a:solidFill>
                <a:latin typeface="Plus Jakarta Sans SemiBold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855</Words>
  <Application>Microsoft Office PowerPoint</Application>
  <PresentationFormat>Grand écran</PresentationFormat>
  <Paragraphs>135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22" baseType="lpstr">
      <vt:lpstr>Arial</vt:lpstr>
      <vt:lpstr>Calibri</vt:lpstr>
      <vt:lpstr>Inter</vt:lpstr>
      <vt:lpstr>Inter SemiBold</vt:lpstr>
      <vt:lpstr>JetBrains Mono</vt:lpstr>
      <vt:lpstr>JetBrains Mono SemiBold</vt:lpstr>
      <vt:lpstr>Modern No. 20</vt:lpstr>
      <vt:lpstr>Plus Jakarta Sans</vt:lpstr>
      <vt:lpstr>Plus Jakarta Sans ExtraBold</vt:lpstr>
      <vt:lpstr>Plus Jakarta Sans SemiBold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Moulaye Idriss Traoré</cp:lastModifiedBy>
  <cp:revision>3</cp:revision>
  <dcterms:created xsi:type="dcterms:W3CDTF">2013-01-27T09:14:16Z</dcterms:created>
  <dcterms:modified xsi:type="dcterms:W3CDTF">2026-07-20T13:53:10Z</dcterms:modified>
  <cp:category/>
</cp:coreProperties>
</file>