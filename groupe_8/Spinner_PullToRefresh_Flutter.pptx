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8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 5.0" userId="82214ae736cd97e0" providerId="LiveId" clId="{02172E60-F93C-4767-88EC-1AAADA8F60FD}"/>
    <pc:docChg chg="modSld">
      <pc:chgData name="Max 5.0" userId="82214ae736cd97e0" providerId="LiveId" clId="{02172E60-F93C-4767-88EC-1AAADA8F60FD}" dt="2026-07-15T16:23:21.735" v="7" actId="14100"/>
      <pc:docMkLst>
        <pc:docMk/>
      </pc:docMkLst>
      <pc:sldChg chg="modSp mod">
        <pc:chgData name="Max 5.0" userId="82214ae736cd97e0" providerId="LiveId" clId="{02172E60-F93C-4767-88EC-1AAADA8F60FD}" dt="2026-07-15T16:23:21.735" v="7" actId="14100"/>
        <pc:sldMkLst>
          <pc:docMk/>
          <pc:sldMk cId="0" sldId="267"/>
        </pc:sldMkLst>
        <pc:spChg chg="mod">
          <ac:chgData name="Max 5.0" userId="82214ae736cd97e0" providerId="LiveId" clId="{02172E60-F93C-4767-88EC-1AAADA8F60FD}" dt="2026-07-15T16:23:21.735" v="7" actId="14100"/>
          <ac:spMkLst>
            <pc:docMk/>
            <pc:sldMk cId="0" sldId="26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4014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914400"/>
            <a:ext cx="3291840" cy="329184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1554480"/>
            <a:ext cx="2011680" cy="2011680"/>
          </a:xfrm>
          <a:prstGeom prst="ellipse">
            <a:avLst/>
          </a:prstGeom>
          <a:ln w="381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29800" y="1965960"/>
            <a:ext cx="1188720" cy="1188720"/>
          </a:xfrm>
          <a:prstGeom prst="ellipse">
            <a:avLst/>
          </a:prstGeom>
          <a:ln w="254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Spinner &amp; Pull-to-Refresh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5661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chargement et rafraîchissement de contenu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une application Flutter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technique — Application "Strat"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Spinner : CircularProgressIndicator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468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du Spinner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33375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d'usage du Spinner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4206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Pull-to-Refresh : RefreshIndicator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50749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et code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126480" y="16002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16002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 du RefreshIndicator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26480" y="24688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12280" y="2468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 vs Pull-to-Refresh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126480" y="3337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33375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UX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126480" y="4206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4206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12280" y="4206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concret : écran Accueil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126480" y="50749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50749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le Spinner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visuel</a:t>
            </a: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informe l'utilisateur qu'une opération est en cours (chargement de données, appel réseau, calcul).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5852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réagit à aucun geste de l'utilisateur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Placé où l'on veut : centre d'écran, bouton, AppBar…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natif Flutter : CircularProgressIndicator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aussi en version linéaire : LinearProgressIndicator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589520" y="2011680"/>
            <a:ext cx="3291840" cy="3291840"/>
          </a:xfrm>
          <a:prstGeom prst="ellipse">
            <a:avLst/>
          </a:prstGeom>
          <a:ln w="127000">
            <a:solidFill>
              <a:srgbClr val="D9EC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89520" y="2011680"/>
            <a:ext cx="3291840" cy="3291840"/>
          </a:xfrm>
          <a:prstGeom prst="arc">
            <a:avLst>
              <a:gd name="adj1" fmla="val 0"/>
              <a:gd name="adj2" fmla="val 15600000"/>
            </a:avLst>
          </a:prstGeom>
          <a:ln w="1270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cours...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CircularProgressIndicator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2377440"/>
          </a:xfrm>
          <a:prstGeom prst="roundRect">
            <a:avLst>
              <a:gd name="adj" fmla="val 3846"/>
            </a:avLst>
          </a:prstGeom>
          <a:solidFill>
            <a:srgbClr val="0F3A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Center(
  child: CircularProgressIndicator(
</a:t>
            </a:r>
            <a:r>
              <a:rPr lang="en-US" sz="15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color: Colors.teal,
    strokeWidth: 4.0,
</a:t>
            </a: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
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la plus simple : un cercle indéterminé, centré, qui tourne indéfiniment.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846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017520" y="484632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à 1.0 → progression déterminée, ou null → indéterminée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52303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/ valueColor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017520" y="523036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du trait (Animation&lt;Color&gt; pour valueColor)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1441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strokeWidth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17520" y="5614416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épaisseur du trait (défaut : 4.0)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59984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backgroundColor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017520" y="5998464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du fond du cercle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utiliser un Spinner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B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Chargement initial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affichage d'un écran en attente de données (ex: écran Accueil au démarrage)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B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74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1856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Appel API / réseau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37960" y="25146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une requête HTTP (connexion, envoi de formulaire)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B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142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Bouton d'action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l'intérieur d'un bouton pour indiquer qu'une action est en traitement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BFA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1605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4142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Traitement local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37960" y="48006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long, lecture/écriture fichier, décodage image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le Pull-to-Refresh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geste utilisateur </a:t>
            </a:r>
            <a:r>
              <a:rPr lang="en-US" sz="150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(tirer vers le bas en haut d'une liste) qui déclenche le rechargement des données affichées.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une liste (ListView, GridView, CustomScrollView…)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 automatiquement un spinner pendant le rechargement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une fonction onRefresh définie par le développeur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●"/>
            </a:pPr>
            <a:r>
              <a:rPr lang="en-US" sz="14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Flutter : RefreshIndicator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0" y="1463040"/>
            <a:ext cx="2560320" cy="4480560"/>
          </a:xfrm>
          <a:prstGeom prst="roundRect">
            <a:avLst>
              <a:gd name="adj" fmla="val 8929"/>
            </a:avLst>
          </a:prstGeom>
          <a:solidFill>
            <a:srgbClr val="0B2E33"/>
          </a:solidFill>
          <a:ln/>
        </p:spPr>
      </p:sp>
      <p:sp>
        <p:nvSpPr>
          <p:cNvPr id="7" name="Shape 5"/>
          <p:cNvSpPr/>
          <p:nvPr/>
        </p:nvSpPr>
        <p:spPr>
          <a:xfrm>
            <a:off x="8366760" y="1783080"/>
            <a:ext cx="2286000" cy="3840480"/>
          </a:xfrm>
          <a:prstGeom prst="roundRect">
            <a:avLst>
              <a:gd name="adj" fmla="val 4000"/>
            </a:avLst>
          </a:prstGeom>
          <a:solidFill>
            <a:srgbClr val="F4FBFA"/>
          </a:solidFill>
          <a:ln/>
        </p:spPr>
      </p:sp>
      <p:sp>
        <p:nvSpPr>
          <p:cNvPr id="8" name="Shape 6"/>
          <p:cNvSpPr/>
          <p:nvPr/>
        </p:nvSpPr>
        <p:spPr>
          <a:xfrm>
            <a:off x="9509760" y="2103120"/>
            <a:ext cx="0" cy="8229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235440" y="2926080"/>
            <a:ext cx="548640" cy="548640"/>
          </a:xfrm>
          <a:prstGeom prst="ellipse">
            <a:avLst/>
          </a:prstGeom>
          <a:ln w="3810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49640" y="374904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D9ECEA"/>
          </a:solidFill>
          <a:ln/>
        </p:spPr>
      </p:sp>
      <p:sp>
        <p:nvSpPr>
          <p:cNvPr id="11" name="Shape 9"/>
          <p:cNvSpPr/>
          <p:nvPr/>
        </p:nvSpPr>
        <p:spPr>
          <a:xfrm>
            <a:off x="8549640" y="429768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D9ECE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49640" y="4846320"/>
            <a:ext cx="1920240" cy="384048"/>
          </a:xfrm>
          <a:prstGeom prst="roundRect">
            <a:avLst>
              <a:gd name="adj" fmla="val 11905"/>
            </a:avLst>
          </a:prstGeom>
          <a:solidFill>
            <a:srgbClr val="D9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RefreshIndicator — fonctionnement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3291840"/>
          </a:xfrm>
          <a:prstGeom prst="roundRect">
            <a:avLst>
              <a:gd name="adj" fmla="val 2778"/>
            </a:avLst>
          </a:prstGeom>
          <a:solidFill>
            <a:srgbClr val="0F3A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10515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RefreshIndicator(
</a:t>
            </a: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Colors.teal,
  onRefresh: () async {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chargerCategories();
  },
</a:t>
            </a: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child: ListView.builder(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itemCount: categories.length,
    itemBuilder: (context, index) =&gt; CarteCategorie(categories[index]),
  ),
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507492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L'utilisateur tire la liste vers le bas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Un spinner circulaire apparaît en haut de l'écran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onRefresh() est appelée et doit retourner un Future</a:t>
            </a:r>
            <a:endParaRPr lang="en-US" sz="135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5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 spinner disparaît une fois le Future terminé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PERSONNALISATION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Adapter le RefreshIndicator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66160" y="164592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du spinner affiché pendant le rafraîchissement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4231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backgroundColor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242316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Couleur de fond du disque du spinner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2004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strokeWidth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320040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Épaisseur du trait du spinner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3977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displacement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97764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entre le haut de l'écran et le spinner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7548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triggerMode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475488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déclencher : en haut de liste ou n'importe où (anywhere)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5321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50800" dist="127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5321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notificationPredicate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553212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fin de quelles notifications de scroll déclenchent le refresh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Spinner vs Pull-to-Refresh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F4FB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CircularProgressIndicator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709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indicateur visuel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interaction utilisateur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Placé librement dans l'UI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chargement initial / boutons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257800" cy="4297680"/>
          </a:xfrm>
          <a:prstGeom prst="roundRect">
            <a:avLst>
              <a:gd name="adj" fmla="val 2128"/>
            </a:avLst>
          </a:prstGeom>
          <a:solidFill>
            <a:srgbClr val="0B2E33"/>
          </a:solidFill>
          <a:ln/>
        </p:spPr>
      </p:sp>
      <p:sp>
        <p:nvSpPr>
          <p:cNvPr id="8" name="Text 6"/>
          <p:cNvSpPr/>
          <p:nvPr/>
        </p:nvSpPr>
        <p:spPr>
          <a:xfrm>
            <a:off x="6446520" y="187452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RefreshIndicator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2514600"/>
            <a:ext cx="4709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Geste tactile (tirer vers le bas)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Enveloppe une liste défilante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 un spinner en interne</a:t>
            </a:r>
            <a:endParaRPr lang="en-US" sz="135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 recharger des données existantes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Conseils d'implémentation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B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jamais bloquer l'UI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utiliser async/await ; l'app doit rester réactive pendant le chargement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BFA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874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1856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 les erreurs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537960" y="25146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échec réseau dans onRefresh ne doit pas faire planter l'app — utiliser try/catch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B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142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Combiner les deux widgets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2960" y="48006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Spinner pour le 1er chargement, RefreshIndicator pour les rechargements suivants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4F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537960" y="4160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60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23760" y="4142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Cohérence visuelle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537960" y="480060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la même couleur de spinner que la charte de l'application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Exemple : écran Accueil de "Strat"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4389120"/>
          </a:xfrm>
          <a:prstGeom prst="roundRect">
            <a:avLst>
              <a:gd name="adj" fmla="val 2083"/>
            </a:avLst>
          </a:prstGeom>
          <a:solidFill>
            <a:srgbClr val="0F3A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0515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8FD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AccueilScreen extends StatefulWidget { ... }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 build(BuildContext context) {
  return isLoading
</a:t>
            </a: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Center(child: CircularProgressIndicator())
    : RefreshIndicator(
</a:t>
            </a: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onRefresh: rechargerCategories,
        child: GridView.builder(
          itemCount: categories.length,
          itemBuilder: (c, i) =&gt; CarteCategorie(categories[i]),
        ),
      );
}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E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4160521"/>
            <a:ext cx="4023360" cy="2573766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widgets complémentaires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9875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Spinner (CircularProgressIndicator) informe d'un traitement en cours, sans interaction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RefreshIndicator ajoute un geste utilisateur pour recharger une liste, et utilise un spinner en interne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600"/>
              </a:spcAft>
              <a:buSzPct val="100000"/>
              <a:buChar char="●"/>
            </a:pPr>
            <a:r>
              <a:rPr lang="en-US" sz="1600" dirty="0">
                <a:solidFill>
                  <a:srgbClr val="E6F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Ensemble, ils couvrent tous les scénarios de chargement d'une application Flutter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FA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782</Words>
  <Application>Microsoft Office PowerPoint</Application>
  <PresentationFormat>Grand écran</PresentationFormat>
  <Paragraphs>146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Max 5.0</cp:lastModifiedBy>
  <cp:revision>1</cp:revision>
  <dcterms:created xsi:type="dcterms:W3CDTF">2026-07-15T16:00:05Z</dcterms:created>
  <dcterms:modified xsi:type="dcterms:W3CDTF">2026-07-15T16:24:04Z</dcterms:modified>
</cp:coreProperties>
</file>