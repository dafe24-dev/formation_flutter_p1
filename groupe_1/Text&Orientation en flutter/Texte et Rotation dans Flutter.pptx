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84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5D7AB77-11EF-4DDB-8676-BD9D41E99848}" v="8" dt="2026-07-19T01:57:47.930"/>
  </p1510:revLst>
</p1510:revInfo>
</file>

<file path=ppt/tableStyles.xml><?xml version="1.0" encoding="utf-8"?>
<a:tblStyleLst xmlns:a="http://schemas.openxmlformats.org/drawingml/2006/main" def="{5C22544A-7EE6-4342-B048-85BDC9FD1C3A}">
  <a:tblStyle styleId="{FABFCF23-3B69-468F-B69F-88F6DE6A72F2}" styleName="Style moyen 1 - Accentuation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6" d="100"/>
          <a:sy n="76" d="100"/>
        </p:scale>
        <p:origin x="516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leymane Bah" userId="e3c8372018421e29" providerId="LiveId" clId="{C6A649A1-44C6-4E5A-A75F-9A8AA326BC37}"/>
    <pc:docChg chg="undo custSel modSld">
      <pc:chgData name="Souleymane Bah" userId="e3c8372018421e29" providerId="LiveId" clId="{C6A649A1-44C6-4E5A-A75F-9A8AA326BC37}" dt="2026-07-19T02:32:30.522" v="422" actId="1076"/>
      <pc:docMkLst>
        <pc:docMk/>
      </pc:docMkLst>
      <pc:sldChg chg="modSp mod">
        <pc:chgData name="Souleymane Bah" userId="e3c8372018421e29" providerId="LiveId" clId="{C6A649A1-44C6-4E5A-A75F-9A8AA326BC37}" dt="2026-07-19T02:30:34.934" v="414" actId="1076"/>
        <pc:sldMkLst>
          <pc:docMk/>
          <pc:sldMk cId="0" sldId="258"/>
        </pc:sldMkLst>
        <pc:spChg chg="mod">
          <ac:chgData name="Souleymane Bah" userId="e3c8372018421e29" providerId="LiveId" clId="{C6A649A1-44C6-4E5A-A75F-9A8AA326BC37}" dt="2026-07-19T01:44:33.943" v="185" actId="207"/>
          <ac:spMkLst>
            <pc:docMk/>
            <pc:sldMk cId="0" sldId="258"/>
            <ac:spMk id="9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4:42.927" v="186" actId="207"/>
          <ac:spMkLst>
            <pc:docMk/>
            <pc:sldMk cId="0" sldId="258"/>
            <ac:spMk id="11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4:59.033" v="189" actId="207"/>
          <ac:spMkLst>
            <pc:docMk/>
            <pc:sldMk cId="0" sldId="258"/>
            <ac:spMk id="13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30:34.934" v="414" actId="1076"/>
          <ac:spMkLst>
            <pc:docMk/>
            <pc:sldMk cId="0" sldId="258"/>
            <ac:spMk id="23" creationId="{00000000-0000-0000-0000-000000000000}"/>
          </ac:spMkLst>
        </pc:spChg>
      </pc:sldChg>
      <pc:sldChg chg="modSp mod">
        <pc:chgData name="Souleymane Bah" userId="e3c8372018421e29" providerId="LiveId" clId="{C6A649A1-44C6-4E5A-A75F-9A8AA326BC37}" dt="2026-07-19T02:30:09.352" v="412" actId="1076"/>
        <pc:sldMkLst>
          <pc:docMk/>
          <pc:sldMk cId="0" sldId="259"/>
        </pc:sldMkLst>
        <pc:spChg chg="mod">
          <ac:chgData name="Souleymane Bah" userId="e3c8372018421e29" providerId="LiveId" clId="{C6A649A1-44C6-4E5A-A75F-9A8AA326BC37}" dt="2026-07-19T01:06:17.071" v="7" actId="313"/>
          <ac:spMkLst>
            <pc:docMk/>
            <pc:sldMk cId="0" sldId="259"/>
            <ac:spMk id="5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05:55.385" v="6" actId="113"/>
          <ac:spMkLst>
            <pc:docMk/>
            <pc:sldMk cId="0" sldId="259"/>
            <ac:spMk id="6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06:52.737" v="8" actId="1076"/>
          <ac:spMkLst>
            <pc:docMk/>
            <pc:sldMk cId="0" sldId="259"/>
            <ac:spMk id="7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6:08.574" v="190" actId="1076"/>
          <ac:spMkLst>
            <pc:docMk/>
            <pc:sldMk cId="0" sldId="259"/>
            <ac:spMk id="8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4:22.610" v="32" actId="1076"/>
          <ac:spMkLst>
            <pc:docMk/>
            <pc:sldMk cId="0" sldId="259"/>
            <ac:spMk id="9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4:42.732" v="33" actId="1076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4:42.732" v="33" actId="1076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4:22.610" v="32" actId="1076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5:35.146" v="38" actId="1036"/>
          <ac:spMkLst>
            <pc:docMk/>
            <pc:sldMk cId="0" sldId="259"/>
            <ac:spMk id="13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5:50.867" v="40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7:04.273" v="52" actId="1035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16:43.088" v="45" actId="1036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30:09.352" v="412" actId="1076"/>
          <ac:spMkLst>
            <pc:docMk/>
            <pc:sldMk cId="0" sldId="259"/>
            <ac:spMk id="17" creationId="{00000000-0000-0000-0000-000000000000}"/>
          </ac:spMkLst>
        </pc:spChg>
        <pc:picChg chg="mod">
          <ac:chgData name="Souleymane Bah" userId="e3c8372018421e29" providerId="LiveId" clId="{C6A649A1-44C6-4E5A-A75F-9A8AA326BC37}" dt="2026-07-19T01:46:08.574" v="190" actId="1076"/>
          <ac:picMkLst>
            <pc:docMk/>
            <pc:sldMk cId="0" sldId="259"/>
            <ac:picMk id="3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10:47.040" v="18" actId="1076"/>
          <ac:picMkLst>
            <pc:docMk/>
            <pc:sldMk cId="0" sldId="259"/>
            <ac:picMk id="4" creationId="{00000000-0000-0000-0000-000000000000}"/>
          </ac:picMkLst>
        </pc:picChg>
      </pc:sldChg>
      <pc:sldChg chg="modSp mod">
        <pc:chgData name="Souleymane Bah" userId="e3c8372018421e29" providerId="LiveId" clId="{C6A649A1-44C6-4E5A-A75F-9A8AA326BC37}" dt="2026-07-19T02:29:27.924" v="410" actId="1076"/>
        <pc:sldMkLst>
          <pc:docMk/>
          <pc:sldMk cId="0" sldId="260"/>
        </pc:sldMkLst>
        <pc:spChg chg="mod">
          <ac:chgData name="Souleymane Bah" userId="e3c8372018421e29" providerId="LiveId" clId="{C6A649A1-44C6-4E5A-A75F-9A8AA326BC37}" dt="2026-07-19T02:29:16.108" v="409" actId="255"/>
          <ac:spMkLst>
            <pc:docMk/>
            <pc:sldMk cId="0" sldId="260"/>
            <ac:spMk id="6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29:27.924" v="410" actId="1076"/>
          <ac:spMkLst>
            <pc:docMk/>
            <pc:sldMk cId="0" sldId="260"/>
            <ac:spMk id="7" creationId="{00000000-0000-0000-0000-000000000000}"/>
          </ac:spMkLst>
        </pc:spChg>
        <pc:graphicFrameChg chg="modGraphic">
          <ac:chgData name="Souleymane Bah" userId="e3c8372018421e29" providerId="LiveId" clId="{C6A649A1-44C6-4E5A-A75F-9A8AA326BC37}" dt="2026-07-19T02:28:02.316" v="407" actId="255"/>
          <ac:graphicFrameMkLst>
            <pc:docMk/>
            <pc:sldMk cId="0" sldId="260"/>
            <ac:graphicFrameMk id="5" creationId="{00000000-0000-0000-0000-000000000000}"/>
          </ac:graphicFrameMkLst>
        </pc:graphicFrameChg>
      </pc:sldChg>
      <pc:sldChg chg="delSp modSp mod">
        <pc:chgData name="Souleymane Bah" userId="e3c8372018421e29" providerId="LiveId" clId="{C6A649A1-44C6-4E5A-A75F-9A8AA326BC37}" dt="2026-07-19T02:31:52.345" v="420" actId="1076"/>
        <pc:sldMkLst>
          <pc:docMk/>
          <pc:sldMk cId="0" sldId="261"/>
        </pc:sldMkLst>
        <pc:spChg chg="del mod">
          <ac:chgData name="Souleymane Bah" userId="e3c8372018421e29" providerId="LiveId" clId="{C6A649A1-44C6-4E5A-A75F-9A8AA326BC37}" dt="2026-07-19T01:28:40.610" v="107" actId="478"/>
          <ac:spMkLst>
            <pc:docMk/>
            <pc:sldMk cId="0" sldId="261"/>
            <ac:spMk id="7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2:06.652" v="168" actId="207"/>
          <ac:spMkLst>
            <pc:docMk/>
            <pc:sldMk cId="0" sldId="261"/>
            <ac:spMk id="8" creationId="{00000000-0000-0000-0000-000000000000}"/>
          </ac:spMkLst>
        </pc:spChg>
        <pc:spChg chg="del mod">
          <ac:chgData name="Souleymane Bah" userId="e3c8372018421e29" providerId="LiveId" clId="{C6A649A1-44C6-4E5A-A75F-9A8AA326BC37}" dt="2026-07-19T01:29:15.655" v="112" actId="478"/>
          <ac:spMkLst>
            <pc:docMk/>
            <pc:sldMk cId="0" sldId="261"/>
            <ac:spMk id="9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26:06.772" v="94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26:42.755" v="99" actId="403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27:11.571" v="105" actId="403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26:57.846" v="102" actId="403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31:52.345" v="420" actId="1076"/>
          <ac:spMkLst>
            <pc:docMk/>
            <pc:sldMk cId="0" sldId="261"/>
            <ac:spMk id="14" creationId="{00000000-0000-0000-0000-000000000000}"/>
          </ac:spMkLst>
        </pc:spChg>
        <pc:picChg chg="mod">
          <ac:chgData name="Souleymane Bah" userId="e3c8372018421e29" providerId="LiveId" clId="{C6A649A1-44C6-4E5A-A75F-9A8AA326BC37}" dt="2026-07-19T01:31:56.709" v="129" actId="1076"/>
          <ac:picMkLst>
            <pc:docMk/>
            <pc:sldMk cId="0" sldId="261"/>
            <ac:picMk id="2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25:39.424" v="90" actId="1076"/>
          <ac:picMkLst>
            <pc:docMk/>
            <pc:sldMk cId="0" sldId="261"/>
            <ac:picMk id="3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25:50.890" v="91" actId="1076"/>
          <ac:picMkLst>
            <pc:docMk/>
            <pc:sldMk cId="0" sldId="261"/>
            <ac:picMk id="4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26:29.674" v="96" actId="1076"/>
          <ac:picMkLst>
            <pc:docMk/>
            <pc:sldMk cId="0" sldId="261"/>
            <ac:picMk id="5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26:25.037" v="95" actId="1076"/>
          <ac:picMkLst>
            <pc:docMk/>
            <pc:sldMk cId="0" sldId="261"/>
            <ac:picMk id="6" creationId="{00000000-0000-0000-0000-000000000000}"/>
          </ac:picMkLst>
        </pc:picChg>
      </pc:sldChg>
      <pc:sldChg chg="modSp mod">
        <pc:chgData name="Souleymane Bah" userId="e3c8372018421e29" providerId="LiveId" clId="{C6A649A1-44C6-4E5A-A75F-9A8AA326BC37}" dt="2026-07-19T02:32:30.522" v="422" actId="1076"/>
        <pc:sldMkLst>
          <pc:docMk/>
          <pc:sldMk cId="0" sldId="262"/>
        </pc:sldMkLst>
        <pc:spChg chg="mod">
          <ac:chgData name="Souleymane Bah" userId="e3c8372018421e29" providerId="LiveId" clId="{C6A649A1-44C6-4E5A-A75F-9A8AA326BC37}" dt="2026-07-19T01:40:53.134" v="161" actId="207"/>
          <ac:spMkLst>
            <pc:docMk/>
            <pc:sldMk cId="0" sldId="262"/>
            <ac:spMk id="3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1:06.080" v="162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1:15.345" v="163" actId="207"/>
          <ac:spMkLst>
            <pc:docMk/>
            <pc:sldMk cId="0" sldId="262"/>
            <ac:spMk id="5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1:23.040" v="164" actId="207"/>
          <ac:spMkLst>
            <pc:docMk/>
            <pc:sldMk cId="0" sldId="262"/>
            <ac:spMk id="6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32:30.522" v="422" actId="1076"/>
          <ac:spMkLst>
            <pc:docMk/>
            <pc:sldMk cId="0" sldId="262"/>
            <ac:spMk id="11" creationId="{00000000-0000-0000-0000-000000000000}"/>
          </ac:spMkLst>
        </pc:spChg>
        <pc:picChg chg="mod">
          <ac:chgData name="Souleymane Bah" userId="e3c8372018421e29" providerId="LiveId" clId="{C6A649A1-44C6-4E5A-A75F-9A8AA326BC37}" dt="2026-07-19T01:33:56.469" v="131" actId="1076"/>
          <ac:picMkLst>
            <pc:docMk/>
            <pc:sldMk cId="0" sldId="262"/>
            <ac:picMk id="7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38:27.960" v="153" actId="1036"/>
          <ac:picMkLst>
            <pc:docMk/>
            <pc:sldMk cId="0" sldId="262"/>
            <ac:picMk id="8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38:27.960" v="153" actId="1036"/>
          <ac:picMkLst>
            <pc:docMk/>
            <pc:sldMk cId="0" sldId="262"/>
            <ac:picMk id="9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38:27.960" v="153" actId="1036"/>
          <ac:picMkLst>
            <pc:docMk/>
            <pc:sldMk cId="0" sldId="262"/>
            <ac:picMk id="10" creationId="{00000000-0000-0000-0000-000000000000}"/>
          </ac:picMkLst>
        </pc:picChg>
      </pc:sldChg>
      <pc:sldChg chg="modSp mod">
        <pc:chgData name="Souleymane Bah" userId="e3c8372018421e29" providerId="LiveId" clId="{C6A649A1-44C6-4E5A-A75F-9A8AA326BC37}" dt="2026-07-19T02:19:43.199" v="385" actId="1076"/>
        <pc:sldMkLst>
          <pc:docMk/>
          <pc:sldMk cId="0" sldId="264"/>
        </pc:sldMkLst>
        <pc:spChg chg="mod">
          <ac:chgData name="Souleymane Bah" userId="e3c8372018421e29" providerId="LiveId" clId="{C6A649A1-44C6-4E5A-A75F-9A8AA326BC37}" dt="2026-07-19T02:18:59.682" v="380" actId="255"/>
          <ac:spMkLst>
            <pc:docMk/>
            <pc:sldMk cId="0" sldId="264"/>
            <ac:spMk id="4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9:43.199" v="385" actId="1076"/>
          <ac:spMkLst>
            <pc:docMk/>
            <pc:sldMk cId="0" sldId="264"/>
            <ac:spMk id="5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9:32.468" v="384" actId="1076"/>
          <ac:spMkLst>
            <pc:docMk/>
            <pc:sldMk cId="0" sldId="264"/>
            <ac:spMk id="6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6:30.594" v="365" actId="1035"/>
          <ac:spMkLst>
            <pc:docMk/>
            <pc:sldMk cId="0" sldId="264"/>
            <ac:spMk id="7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6:30.594" v="365" actId="1035"/>
          <ac:spMkLst>
            <pc:docMk/>
            <pc:sldMk cId="0" sldId="264"/>
            <ac:spMk id="8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6:30.594" v="365" actId="1035"/>
          <ac:spMkLst>
            <pc:docMk/>
            <pc:sldMk cId="0" sldId="264"/>
            <ac:spMk id="9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6:30.594" v="365" actId="1035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6:53.482" v="366" actId="1076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7:24.234" v="370" actId="1035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7:49.748" v="378" actId="1038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8:01.344" v="379" actId="1076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2:14:53.793" v="358" actId="1036"/>
          <ac:spMkLst>
            <pc:docMk/>
            <pc:sldMk cId="0" sldId="264"/>
            <ac:spMk id="15" creationId="{00000000-0000-0000-0000-000000000000}"/>
          </ac:spMkLst>
        </pc:spChg>
        <pc:picChg chg="mod">
          <ac:chgData name="Souleymane Bah" userId="e3c8372018421e29" providerId="LiveId" clId="{C6A649A1-44C6-4E5A-A75F-9A8AA326BC37}" dt="2026-07-19T02:14:15.968" v="356" actId="14100"/>
          <ac:picMkLst>
            <pc:docMk/>
            <pc:sldMk cId="0" sldId="264"/>
            <ac:picMk id="3" creationId="{00000000-0000-0000-0000-000000000000}"/>
          </ac:picMkLst>
        </pc:picChg>
      </pc:sldChg>
      <pc:sldChg chg="modSp mod">
        <pc:chgData name="Souleymane Bah" userId="e3c8372018421e29" providerId="LiveId" clId="{C6A649A1-44C6-4E5A-A75F-9A8AA326BC37}" dt="2026-07-19T02:23:09.027" v="394" actId="12385"/>
        <pc:sldMkLst>
          <pc:docMk/>
          <pc:sldMk cId="0" sldId="265"/>
        </pc:sldMkLst>
        <pc:graphicFrameChg chg="modGraphic">
          <ac:chgData name="Souleymane Bah" userId="e3c8372018421e29" providerId="LiveId" clId="{C6A649A1-44C6-4E5A-A75F-9A8AA326BC37}" dt="2026-07-19T02:23:09.027" v="394" actId="12385"/>
          <ac:graphicFrameMkLst>
            <pc:docMk/>
            <pc:sldMk cId="0" sldId="265"/>
            <ac:graphicFrameMk id="5" creationId="{00000000-0000-0000-0000-000000000000}"/>
          </ac:graphicFrameMkLst>
        </pc:graphicFrameChg>
      </pc:sldChg>
      <pc:sldChg chg="modSp mod">
        <pc:chgData name="Souleymane Bah" userId="e3c8372018421e29" providerId="LiveId" clId="{C6A649A1-44C6-4E5A-A75F-9A8AA326BC37}" dt="2026-07-19T01:57:47.930" v="247"/>
        <pc:sldMkLst>
          <pc:docMk/>
          <pc:sldMk cId="0" sldId="266"/>
        </pc:sldMkLst>
        <pc:spChg chg="mod">
          <ac:chgData name="Souleymane Bah" userId="e3c8372018421e29" providerId="LiveId" clId="{C6A649A1-44C6-4E5A-A75F-9A8AA326BC37}" dt="2026-07-19T01:52:57.658" v="230" actId="207"/>
          <ac:spMkLst>
            <pc:docMk/>
            <pc:sldMk cId="0" sldId="266"/>
            <ac:spMk id="5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2:37.539" v="228" actId="1076"/>
          <ac:spMkLst>
            <pc:docMk/>
            <pc:sldMk cId="0" sldId="266"/>
            <ac:spMk id="6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3:32.644" v="234" actId="207"/>
          <ac:spMkLst>
            <pc:docMk/>
            <pc:sldMk cId="0" sldId="266"/>
            <ac:spMk id="7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3:25.392" v="233" actId="207"/>
          <ac:spMkLst>
            <pc:docMk/>
            <pc:sldMk cId="0" sldId="266"/>
            <ac:spMk id="8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3:17.667" v="232" actId="207"/>
          <ac:spMkLst>
            <pc:docMk/>
            <pc:sldMk cId="0" sldId="266"/>
            <ac:spMk id="9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3:04.648" v="231" actId="207"/>
          <ac:spMkLst>
            <pc:docMk/>
            <pc:sldMk cId="0" sldId="266"/>
            <ac:spMk id="10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2:12.770" v="225" actId="1076"/>
          <ac:spMkLst>
            <pc:docMk/>
            <pc:sldMk cId="0" sldId="266"/>
            <ac:spMk id="11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3:40.620" v="235" actId="207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3:51.202" v="236" actId="207"/>
          <ac:spMkLst>
            <pc:docMk/>
            <pc:sldMk cId="0" sldId="266"/>
            <ac:spMk id="13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3:56.780" v="237" actId="207"/>
          <ac:spMkLst>
            <pc:docMk/>
            <pc:sldMk cId="0" sldId="266"/>
            <ac:spMk id="14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54:04.978" v="238" actId="207"/>
          <ac:spMkLst>
            <pc:docMk/>
            <pc:sldMk cId="0" sldId="266"/>
            <ac:spMk id="15" creationId="{00000000-0000-0000-0000-000000000000}"/>
          </ac:spMkLst>
        </pc:spChg>
        <pc:picChg chg="mod">
          <ac:chgData name="Souleymane Bah" userId="e3c8372018421e29" providerId="LiveId" clId="{C6A649A1-44C6-4E5A-A75F-9A8AA326BC37}" dt="2026-07-19T01:56:20.066" v="244"/>
          <ac:picMkLst>
            <pc:docMk/>
            <pc:sldMk cId="0" sldId="266"/>
            <ac:picMk id="3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57:47.930" v="247"/>
          <ac:picMkLst>
            <pc:docMk/>
            <pc:sldMk cId="0" sldId="266"/>
            <ac:picMk id="4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54:31.569" v="242" actId="1076"/>
          <ac:picMkLst>
            <pc:docMk/>
            <pc:sldMk cId="0" sldId="266"/>
            <ac:picMk id="16" creationId="{00000000-0000-0000-0000-000000000000}"/>
          </ac:picMkLst>
        </pc:picChg>
        <pc:picChg chg="mod">
          <ac:chgData name="Souleymane Bah" userId="e3c8372018421e29" providerId="LiveId" clId="{C6A649A1-44C6-4E5A-A75F-9A8AA326BC37}" dt="2026-07-19T01:54:41.989" v="243" actId="1076"/>
          <ac:picMkLst>
            <pc:docMk/>
            <pc:sldMk cId="0" sldId="266"/>
            <ac:picMk id="17" creationId="{00000000-0000-0000-0000-000000000000}"/>
          </ac:picMkLst>
        </pc:picChg>
      </pc:sldChg>
      <pc:sldChg chg="modSp mod">
        <pc:chgData name="Souleymane Bah" userId="e3c8372018421e29" providerId="LiveId" clId="{C6A649A1-44C6-4E5A-A75F-9A8AA326BC37}" dt="2026-07-19T01:48:19.183" v="204" actId="1076"/>
        <pc:sldMkLst>
          <pc:docMk/>
          <pc:sldMk cId="0" sldId="267"/>
        </pc:sldMkLst>
        <pc:spChg chg="mod">
          <ac:chgData name="Souleymane Bah" userId="e3c8372018421e29" providerId="LiveId" clId="{C6A649A1-44C6-4E5A-A75F-9A8AA326BC37}" dt="2026-07-19T01:47:17.261" v="198" actId="403"/>
          <ac:spMkLst>
            <pc:docMk/>
            <pc:sldMk cId="0" sldId="267"/>
            <ac:spMk id="3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7:41.134" v="200" actId="1076"/>
          <ac:spMkLst>
            <pc:docMk/>
            <pc:sldMk cId="0" sldId="267"/>
            <ac:spMk id="4" creationId="{00000000-0000-0000-0000-000000000000}"/>
          </ac:spMkLst>
        </pc:spChg>
        <pc:spChg chg="mod">
          <ac:chgData name="Souleymane Bah" userId="e3c8372018421e29" providerId="LiveId" clId="{C6A649A1-44C6-4E5A-A75F-9A8AA326BC37}" dt="2026-07-19T01:48:19.183" v="204" actId="1076"/>
          <ac:spMkLst>
            <pc:docMk/>
            <pc:sldMk cId="0" sldId="267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95287" y="2660898"/>
            <a:ext cx="11401425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1" i="0" u="none">
                <a:solidFill>
                  <a:srgbClr val="38BDF8"/>
                </a:solidFill>
                <a:latin typeface="Plus Jakarta Sans"/>
              </a:rPr>
              <a:t>Texte &amp; Orientation</a:t>
            </a:r>
            <a:r>
              <a:t>
</a:t>
            </a:r>
            <a:r>
              <a:rPr sz="4200" b="1" i="0" u="none">
                <a:solidFill>
                  <a:srgbClr val="38BDF8"/>
                </a:solidFill>
                <a:latin typeface="Plus Jakarta Sans"/>
              </a:rPr>
              <a:t> dans Flutter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078039"/>
            <a:ext cx="7620000" cy="476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94A3B8"/>
                </a:solidFill>
                <a:latin typeface="Plus Jakarta Sans"/>
              </a:rPr>
              <a:t>Guide complet de personnalisation des polices avec Google Fonts &amp; de verrouillage de rotation d'écran.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571750"/>
            <a:ext cx="7620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Plus Jakarta Sans"/>
              </a:rPr>
              <a:t>PARTIE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7" y="2952750"/>
            <a:ext cx="114014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Les Polices Google Fonts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00500"/>
            <a:ext cx="7620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Afficher des polices personnalisées de manière fiable et rapide dans l'application.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465486"/>
            <a:ext cx="3460700" cy="2925812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5575" y="2465486"/>
            <a:ext cx="3460700" cy="2925812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64400" y="2465486"/>
            <a:ext cx="3460700" cy="29258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13225" y="4768453"/>
            <a:ext cx="2965400" cy="375195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12050" y="4437161"/>
            <a:ext cx="2965400" cy="70648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" y="3237011"/>
            <a:ext cx="31136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L'Objectif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598961"/>
            <a:ext cx="2965400" cy="9062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latin typeface="Plus Jakarta Sans"/>
              </a:rPr>
              <a:t>Éviter</a:t>
            </a:r>
            <a:r>
              <a:rPr sz="1200" b="0" i="0" u="none" dirty="0">
                <a:latin typeface="Plus Jakarta Sans"/>
              </a:rPr>
              <a:t> les </a:t>
            </a:r>
            <a:r>
              <a:rPr sz="1200" b="0" i="0" u="none" dirty="0" err="1">
                <a:latin typeface="Plus Jakarta Sans"/>
              </a:rPr>
              <a:t>erreurs</a:t>
            </a:r>
            <a:r>
              <a:rPr sz="1200" b="0" i="0" u="none" dirty="0">
                <a:latin typeface="Plus Jakarta Sans"/>
              </a:rPr>
              <a:t> de configuration locales </a:t>
            </a:r>
            <a:r>
              <a:rPr sz="1200" b="0" i="0" u="none" dirty="0" err="1">
                <a:latin typeface="Plus Jakarta Sans"/>
              </a:rPr>
              <a:t>en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utilisant</a:t>
            </a:r>
            <a:r>
              <a:rPr sz="1200" b="0" i="0" u="none" dirty="0">
                <a:latin typeface="Plus Jakarta Sans"/>
              </a:rPr>
              <a:t> un package </a:t>
            </a:r>
            <a:r>
              <a:rPr sz="1200" b="0" i="0" u="none" dirty="0" err="1">
                <a:latin typeface="Plus Jakarta Sans"/>
              </a:rPr>
              <a:t>dynamique</a:t>
            </a:r>
            <a:r>
              <a:rPr sz="1200" b="0" i="0" u="none" dirty="0">
                <a:latin typeface="Plus Jakarta Sans"/>
              </a:rPr>
              <a:t>. </a:t>
            </a:r>
            <a:r>
              <a:rPr sz="1200" b="0" i="0" u="none" dirty="0" err="1">
                <a:latin typeface="Plus Jakarta Sans"/>
              </a:rPr>
              <a:t>Permet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d'ajuster</a:t>
            </a:r>
            <a:r>
              <a:rPr sz="1200" b="0" i="0" u="none" dirty="0">
                <a:latin typeface="Plus Jakarta Sans"/>
              </a:rPr>
              <a:t> les styles (taille, </a:t>
            </a:r>
            <a:r>
              <a:rPr sz="1200" b="0" i="0" u="none" dirty="0" err="1">
                <a:latin typeface="Plus Jakarta Sans"/>
              </a:rPr>
              <a:t>graisse</a:t>
            </a:r>
            <a:r>
              <a:rPr sz="1200" b="0" i="0" u="none" dirty="0">
                <a:latin typeface="Plus Jakarta Sans"/>
              </a:rPr>
              <a:t>, </a:t>
            </a:r>
            <a:r>
              <a:rPr sz="1200" b="0" i="0" u="none" dirty="0" err="1">
                <a:latin typeface="Plus Jakarta Sans"/>
              </a:rPr>
              <a:t>italique</a:t>
            </a:r>
            <a:r>
              <a:rPr sz="1200" b="0" i="0" u="none" dirty="0">
                <a:latin typeface="Plus Jakarta Sans"/>
              </a:rPr>
              <a:t>, couleur) </a:t>
            </a:r>
            <a:r>
              <a:rPr sz="1200" b="0" i="0" u="none" dirty="0" err="1">
                <a:latin typeface="Plus Jakarta Sans"/>
              </a:rPr>
              <a:t>en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une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seule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ligne</a:t>
            </a:r>
            <a:r>
              <a:rPr sz="1200" b="0" i="0" u="none" dirty="0">
                <a:latin typeface="Plus Jakarta Sans"/>
              </a:rPr>
              <a:t> de code.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13225" y="3237011"/>
            <a:ext cx="311367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Étape 1 : pubspec.yaml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3225" y="3598961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latin typeface="Plus Jakarta Sans"/>
              </a:rPr>
              <a:t>Déclarer</a:t>
            </a:r>
            <a:r>
              <a:rPr sz="1200" b="0" i="0" u="none" dirty="0">
                <a:latin typeface="Plus Jakarta Sans"/>
              </a:rPr>
              <a:t> la </a:t>
            </a:r>
            <a:r>
              <a:rPr sz="1200" b="0" i="0" u="none" dirty="0" err="1">
                <a:latin typeface="Plus Jakarta Sans"/>
              </a:rPr>
              <a:t>dépendance</a:t>
            </a:r>
            <a:r>
              <a:rPr sz="1200" b="0" i="0" u="none" dirty="0">
                <a:latin typeface="Plus Jakarta Sans"/>
              </a:rPr>
              <a:t> externe pour </a:t>
            </a:r>
            <a:r>
              <a:rPr sz="1200" b="0" i="0" u="none" dirty="0" err="1">
                <a:latin typeface="Plus Jakarta Sans"/>
              </a:rPr>
              <a:t>télécharger</a:t>
            </a:r>
            <a:r>
              <a:rPr sz="1200" b="0" i="0" u="none" dirty="0">
                <a:latin typeface="Plus Jakarta Sans"/>
              </a:rPr>
              <a:t> le package dans le </a:t>
            </a:r>
            <a:r>
              <a:rPr sz="1200" b="0" i="0" u="none" dirty="0" err="1">
                <a:latin typeface="Plus Jakarta Sans"/>
              </a:rPr>
              <a:t>projet</a:t>
            </a:r>
            <a:r>
              <a:rPr sz="1200" b="0" i="0" u="none" dirty="0">
                <a:latin typeface="Plus Jakarta Sans"/>
              </a:rPr>
              <a:t> 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12050" y="3237011"/>
            <a:ext cx="311367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lus Jakarta Sans SemiBold"/>
              </a:rPr>
              <a:t>Étape 2 &amp; 3 : pub get &amp; Import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12050" y="3865661"/>
            <a:ext cx="29654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 dirty="0" err="1">
                <a:latin typeface="Plus Jakarta Sans"/>
              </a:rPr>
              <a:t>Récupérer</a:t>
            </a:r>
            <a:r>
              <a:rPr sz="1200" b="0" i="0" u="none" dirty="0">
                <a:latin typeface="Plus Jakarta Sans"/>
              </a:rPr>
              <a:t> le package et </a:t>
            </a:r>
            <a:r>
              <a:rPr sz="1200" b="0" i="0" u="none" dirty="0" err="1">
                <a:latin typeface="Plus Jakarta Sans"/>
              </a:rPr>
              <a:t>l'importer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en</a:t>
            </a:r>
            <a:r>
              <a:rPr sz="1200" b="0" i="0" u="none" dirty="0">
                <a:latin typeface="Plus Jakarta Sans"/>
              </a:rPr>
              <a:t> tête de </a:t>
            </a:r>
            <a:r>
              <a:rPr sz="1200" b="0" i="0" u="none" dirty="0" err="1">
                <a:latin typeface="Plus Jakarta Sans"/>
              </a:rPr>
              <a:t>fichier</a:t>
            </a:r>
            <a:r>
              <a:rPr sz="1200" b="0" i="0" u="none" dirty="0">
                <a:latin typeface="Plus Jakarta Sans"/>
              </a:rPr>
              <a:t> Dart :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2760761"/>
            <a:ext cx="304800" cy="30480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3225" y="2760761"/>
            <a:ext cx="228600" cy="304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18000" y="4873228"/>
            <a:ext cx="800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F472B6"/>
                </a:solidFill>
                <a:latin typeface="JetBrains Mono"/>
              </a:rPr>
              <a:t>dependencies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51450" y="4873228"/>
            <a:ext cx="8001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F472B6"/>
                </a:solidFill>
                <a:latin typeface="JetBrains Mono"/>
              </a:rPr>
              <a:t>google_fonts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12050" y="2760761"/>
            <a:ext cx="342900" cy="3048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8416825" y="4541936"/>
            <a:ext cx="12001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1" u="none">
                <a:solidFill>
                  <a:srgbClr val="64748B"/>
                </a:solidFill>
                <a:latin typeface="JetBrains Mono"/>
              </a:rPr>
              <a:t># Dans le terminal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6825" y="4541936"/>
            <a:ext cx="2466975" cy="3180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1" u="none">
                <a:solidFill>
                  <a:srgbClr val="64748B"/>
                </a:solidFill>
                <a:latin typeface="JetBrains Mono"/>
              </a:rPr>
              <a:t>// Dans main.dart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16950" y="4707582"/>
            <a:ext cx="40005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F472B6"/>
                </a:solidFill>
                <a:latin typeface="JetBrains Mono"/>
              </a:rPr>
              <a:t>import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6825" y="4873228"/>
            <a:ext cx="2667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 i="0" u="none">
                <a:solidFill>
                  <a:srgbClr val="34D399"/>
                </a:solidFill>
                <a:latin typeface="JetBrains Mono"/>
              </a:rPr>
              <a:t>'package:google_fonts/google_fonts.dart'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625" y="667344"/>
            <a:ext cx="1125140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4000" b="1" i="0" u="none">
                <a:solidFill>
                  <a:srgbClr val="0F172A"/>
                </a:solidFill>
                <a:latin typeface="Plus Jakarta Sans"/>
              </a:defRPr>
            </a:lvl1pPr>
          </a:lstStyle>
          <a:p>
            <a:r>
              <a:rPr dirty="0"/>
              <a:t>1. Objectif &amp; Installation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6750" y="760809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04667"/>
            <a:ext cx="5238750" cy="55527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3625" y="1212977"/>
            <a:ext cx="5842673" cy="403675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71500" y="1823715"/>
            <a:ext cx="5238750" cy="234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latin typeface="Plus Jakarta Sans SemiBold"/>
              </a:rPr>
              <a:t>Étape 4 &amp; 5 : Replacement de </a:t>
            </a:r>
            <a:r>
              <a:rPr sz="1600" b="1" i="0" u="none" dirty="0" err="1">
                <a:latin typeface="Plus Jakarta Sans SemiBold"/>
              </a:rPr>
              <a:t>TextStyle</a:t>
            </a:r>
            <a:endParaRPr sz="1600" b="1" i="0" u="none" dirty="0">
              <a:latin typeface="Plus Jakarta Sa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71500" y="2166615"/>
            <a:ext cx="52387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latin typeface="Plus Jakarta Sans"/>
              </a:rPr>
              <a:t>Pour appliquer la police </a:t>
            </a:r>
            <a:r>
              <a:rPr sz="1600" b="1" i="0" u="none" dirty="0" err="1">
                <a:latin typeface="Plus Jakarta Sans"/>
              </a:rPr>
              <a:t>personnalisée</a:t>
            </a:r>
            <a:r>
              <a:rPr sz="1600" b="1" i="0" u="none" dirty="0">
                <a:latin typeface="Plus Jakarta Sans"/>
              </a:rPr>
              <a:t>, nous </a:t>
            </a:r>
            <a:r>
              <a:rPr sz="1600" b="1" i="0" u="none" dirty="0" err="1">
                <a:latin typeface="Plus Jakarta Sans"/>
              </a:rPr>
              <a:t>substituons</a:t>
            </a:r>
            <a:r>
              <a:rPr sz="1600" b="1" i="0" u="none" dirty="0">
                <a:latin typeface="Plus Jakarta Sans"/>
              </a:rPr>
              <a:t> </a:t>
            </a:r>
            <a:r>
              <a:rPr sz="1600" b="1" i="0" u="none" dirty="0" err="1">
                <a:latin typeface="Plus Jakarta Sans"/>
              </a:rPr>
              <a:t>l'appel</a:t>
            </a:r>
            <a:r>
              <a:rPr sz="1600" b="1" i="0" u="none" dirty="0">
                <a:latin typeface="Plus Jakarta Sans"/>
              </a:rPr>
              <a:t> </a:t>
            </a:r>
            <a:r>
              <a:rPr sz="1600" b="1" i="0" u="none" dirty="0" err="1">
                <a:latin typeface="Plus Jakarta Sans"/>
              </a:rPr>
              <a:t>classique</a:t>
            </a:r>
            <a:r>
              <a:rPr sz="1600" b="1" i="0" u="none" dirty="0">
                <a:latin typeface="Plus Jakarta Sans"/>
              </a:rPr>
              <a:t> de style par </a:t>
            </a:r>
            <a:r>
              <a:rPr sz="1600" b="1" i="0" u="none" dirty="0" err="1">
                <a:latin typeface="Plus Jakarta Sans"/>
              </a:rPr>
              <a:t>une</a:t>
            </a:r>
            <a:r>
              <a:rPr sz="1600" b="1" i="0" u="none" dirty="0">
                <a:latin typeface="Plus Jakarta Sans"/>
              </a:rPr>
              <a:t> </a:t>
            </a:r>
            <a:r>
              <a:rPr sz="1600" b="1" i="0" u="none" dirty="0" err="1">
                <a:latin typeface="Plus Jakarta Sans"/>
              </a:rPr>
              <a:t>méthode</a:t>
            </a:r>
            <a:r>
              <a:rPr sz="1600" b="1" i="0" u="none" dirty="0">
                <a:latin typeface="Plus Jakarta Sans"/>
              </a:rPr>
              <a:t> de la </a:t>
            </a:r>
            <a:r>
              <a:rPr sz="1600" b="1" i="0" u="none" dirty="0" err="1">
                <a:latin typeface="Plus Jakarta Sans"/>
              </a:rPr>
              <a:t>classe</a:t>
            </a:r>
            <a:r>
              <a:rPr sz="1600" b="1" i="0" u="none" dirty="0">
                <a:latin typeface="Plus Jakarta Sans"/>
              </a:rPr>
              <a:t> </a:t>
            </a:r>
            <a:r>
              <a:rPr sz="1600" b="1" i="0" u="none" dirty="0" err="1">
                <a:latin typeface="Plus Jakarta Sans SemiBold"/>
              </a:rPr>
              <a:t>GoogleFonts</a:t>
            </a:r>
            <a:r>
              <a:rPr sz="1600" b="1" i="0" u="none" dirty="0"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1500" y="2885107"/>
            <a:ext cx="5238750" cy="6924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600" b="1" i="0" u="none" dirty="0">
                <a:latin typeface="Plus Jakarta Sans"/>
              </a:rPr>
              <a:t>Une </a:t>
            </a:r>
            <a:r>
              <a:rPr sz="1600" b="1" i="0" u="none" dirty="0" err="1">
                <a:latin typeface="Plus Jakarta Sans"/>
              </a:rPr>
              <a:t>fois</a:t>
            </a:r>
            <a:r>
              <a:rPr sz="1600" b="1" i="0" u="none" dirty="0">
                <a:latin typeface="Plus Jakarta Sans"/>
              </a:rPr>
              <a:t> les modifications </a:t>
            </a:r>
            <a:r>
              <a:rPr sz="1600" b="1" i="0" u="none" dirty="0" err="1">
                <a:latin typeface="Plus Jakarta Sans"/>
              </a:rPr>
              <a:t>sauvegardées</a:t>
            </a:r>
            <a:r>
              <a:rPr sz="1600" b="1" i="0" u="none" dirty="0">
                <a:latin typeface="Plus Jakarta Sans"/>
              </a:rPr>
              <a:t> sans </a:t>
            </a:r>
            <a:r>
              <a:rPr sz="1600" b="1" i="0" u="none" dirty="0" err="1">
                <a:latin typeface="Plus Jakarta Sans"/>
              </a:rPr>
              <a:t>conflit</a:t>
            </a:r>
            <a:r>
              <a:rPr sz="1600" b="1" i="0" u="none" dirty="0">
                <a:latin typeface="Plus Jakarta Sans"/>
              </a:rPr>
              <a:t>, </a:t>
            </a:r>
            <a:r>
              <a:rPr sz="1600" b="1" i="0" u="none" dirty="0" err="1">
                <a:latin typeface="Plus Jakarta Sans"/>
              </a:rPr>
              <a:t>l'application</a:t>
            </a:r>
            <a:r>
              <a:rPr sz="1600" b="1" i="0" u="none" dirty="0">
                <a:latin typeface="Plus Jakarta Sans"/>
              </a:rPr>
              <a:t> est </a:t>
            </a:r>
            <a:r>
              <a:rPr sz="1600" b="1" i="0" u="none" dirty="0" err="1">
                <a:latin typeface="Plus Jakarta Sans"/>
              </a:rPr>
              <a:t>exécutée</a:t>
            </a:r>
            <a:r>
              <a:rPr sz="1600" b="1" i="0" u="none" dirty="0">
                <a:latin typeface="Plus Jakarta Sans"/>
              </a:rPr>
              <a:t> de façon standard via la </a:t>
            </a:r>
            <a:r>
              <a:rPr sz="1600" b="1" i="0" u="none" dirty="0" err="1">
                <a:latin typeface="Plus Jakarta Sans"/>
              </a:rPr>
              <a:t>commande</a:t>
            </a:r>
            <a:r>
              <a:rPr sz="1600" b="1" i="0" u="none" dirty="0">
                <a:latin typeface="Plus Jakarta Sans"/>
              </a:rPr>
              <a:t> </a:t>
            </a:r>
            <a:r>
              <a:rPr sz="1600" b="1" i="0" u="none" dirty="0" err="1">
                <a:latin typeface="Plus Jakarta Sans"/>
              </a:rPr>
              <a:t>suivante</a:t>
            </a:r>
            <a:r>
              <a:rPr sz="1600" b="1" i="0" u="none" dirty="0">
                <a:latin typeface="Plus Jakarta Sans"/>
              </a:rPr>
              <a:t> 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195167"/>
            <a:ext cx="22860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22"/>
              </a:lnSpc>
            </a:pPr>
            <a:r>
              <a:rPr sz="1050" b="0" i="1" u="none" dirty="0">
                <a:solidFill>
                  <a:srgbClr val="64748B"/>
                </a:solidFill>
                <a:latin typeface="JetBrains Mono"/>
              </a:rPr>
              <a:t># </a:t>
            </a:r>
            <a:r>
              <a:rPr sz="1050" b="0" i="1" u="none" dirty="0" err="1">
                <a:solidFill>
                  <a:srgbClr val="64748B"/>
                </a:solidFill>
                <a:latin typeface="JetBrains Mono"/>
              </a:rPr>
              <a:t>Lancement</a:t>
            </a:r>
            <a:r>
              <a:rPr sz="1050" b="0" i="1" u="none" dirty="0">
                <a:solidFill>
                  <a:srgbClr val="64748B"/>
                </a:solidFill>
                <a:latin typeface="JetBrains Mono"/>
              </a:rPr>
              <a:t> dans le </a:t>
            </a:r>
            <a:r>
              <a:rPr sz="1050" b="0" i="1" u="none" dirty="0" err="1">
                <a:solidFill>
                  <a:srgbClr val="64748B"/>
                </a:solidFill>
                <a:latin typeface="JetBrains Mono"/>
              </a:rPr>
              <a:t>navigateur</a:t>
            </a:r>
            <a:endParaRPr sz="1050" b="0" i="1" u="none" dirty="0">
              <a:solidFill>
                <a:srgbClr val="64748B"/>
              </a:solidFill>
              <a:latin typeface="JetBrains Mono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71222" y="1608267"/>
            <a:ext cx="457200" cy="18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F472B6"/>
                </a:solidFill>
                <a:latin typeface="JetBrains Mono"/>
              </a:rPr>
              <a:t>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05524" y="1390504"/>
            <a:ext cx="2362200" cy="18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'</a:t>
            </a:r>
            <a:r>
              <a:rPr sz="1200" b="0" i="0" u="none" dirty="0" err="1">
                <a:solidFill>
                  <a:srgbClr val="34D399"/>
                </a:solidFill>
                <a:latin typeface="JetBrains Mono"/>
              </a:rPr>
              <a:t>package:flutter</a:t>
            </a: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/</a:t>
            </a:r>
            <a:r>
              <a:rPr sz="1200" b="0" i="0" u="none" dirty="0" err="1">
                <a:solidFill>
                  <a:srgbClr val="34D399"/>
                </a:solidFill>
                <a:latin typeface="JetBrains Mono"/>
              </a:rPr>
              <a:t>material.dart</a:t>
            </a: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71222" y="1400980"/>
            <a:ext cx="457200" cy="18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200" b="0" i="0" u="none" dirty="0">
                <a:solidFill>
                  <a:srgbClr val="F472B6"/>
                </a:solidFill>
                <a:latin typeface="JetBrains Mono"/>
              </a:rPr>
              <a:t>import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90423" y="1608267"/>
            <a:ext cx="3048000" cy="1849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34D399"/>
                </a:solidFill>
                <a:latin typeface="JetBrains Mono"/>
              </a:rPr>
              <a:t>'</a:t>
            </a:r>
            <a:r>
              <a:rPr sz="1100" b="0" i="0" u="none" dirty="0" err="1">
                <a:solidFill>
                  <a:srgbClr val="34D399"/>
                </a:solidFill>
                <a:latin typeface="JetBrains Mono"/>
              </a:rPr>
              <a:t>package:google_fonts</a:t>
            </a:r>
            <a:r>
              <a:rPr sz="1100" b="0" i="0" u="none" dirty="0">
                <a:solidFill>
                  <a:srgbClr val="34D399"/>
                </a:solidFill>
                <a:latin typeface="JetBrains Mono"/>
              </a:rPr>
              <a:t>/</a:t>
            </a:r>
            <a:r>
              <a:rPr sz="1100" b="0" i="0" u="none" dirty="0" err="1">
                <a:solidFill>
                  <a:srgbClr val="34D399"/>
                </a:solidFill>
                <a:latin typeface="JetBrains Mono"/>
              </a:rPr>
              <a:t>google_fonts.dart</a:t>
            </a:r>
            <a:r>
              <a:rPr sz="1100" b="0" i="0" u="none" dirty="0">
                <a:solidFill>
                  <a:srgbClr val="34D399"/>
                </a:solidFill>
                <a:latin typeface="JetBrains Mono"/>
              </a:rPr>
              <a:t>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2824" y="1633133"/>
            <a:ext cx="3048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38BDF8"/>
                </a:solidFill>
                <a:latin typeface="JetBrains Mono"/>
              </a:rPr>
              <a:t>void</a:t>
            </a:r>
            <a:endParaRPr sz="1012" b="0" i="0" u="none" dirty="0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58025" y="2053532"/>
            <a:ext cx="9906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012" b="0" i="0" u="none" dirty="0">
                <a:solidFill>
                  <a:srgbClr val="34D399"/>
                </a:solidFill>
                <a:latin typeface="JetBrains Mono"/>
              </a:rPr>
              <a:t>'Hello </a:t>
            </a:r>
            <a:r>
              <a:rPr sz="1100" b="0" i="0" u="none" dirty="0">
                <a:solidFill>
                  <a:srgbClr val="34D399"/>
                </a:solidFill>
                <a:latin typeface="JetBrains Mono"/>
              </a:rPr>
              <a:t>World</a:t>
            </a:r>
            <a:r>
              <a:rPr sz="1012" b="0" i="0" u="none" dirty="0">
                <a:solidFill>
                  <a:srgbClr val="34D399"/>
                </a:solidFill>
                <a:latin typeface="JetBrains Mono"/>
              </a:rPr>
              <a:t>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12215" y="2054416"/>
            <a:ext cx="1524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FBBF24"/>
                </a:solidFill>
                <a:latin typeface="JetBrains Mono"/>
              </a:rPr>
              <a:t>20</a:t>
            </a:r>
            <a:endParaRPr sz="1012" b="0" i="0" u="none" dirty="0">
              <a:solidFill>
                <a:srgbClr val="FBBF24"/>
              </a:solidFill>
              <a:latin typeface="JetBrains Mono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24224" y="2459568"/>
            <a:ext cx="2286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FBBF24"/>
                </a:solidFill>
                <a:latin typeface="JetBrains Mono"/>
              </a:rPr>
              <a:t>1.2</a:t>
            </a:r>
            <a:endParaRPr sz="1012" b="0" i="0" u="none" dirty="0">
              <a:solidFill>
                <a:srgbClr val="FBBF24"/>
              </a:solidFill>
              <a:latin typeface="JetBrains Mono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7484" y="684390"/>
            <a:ext cx="1125140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>
            <a:defPPr>
              <a:defRPr lang="en-US"/>
            </a:defPPr>
            <a:lvl1pPr>
              <a:defRPr sz="4000" b="1" i="0" u="none">
                <a:solidFill>
                  <a:srgbClr val="0F172A"/>
                </a:solidFill>
                <a:latin typeface="Plus Jakarta Sans"/>
              </a:defRPr>
            </a:lvl1pPr>
          </a:lstStyle>
          <a:p>
            <a:r>
              <a:rPr dirty="0"/>
              <a:t>2. Code Final (</a:t>
            </a:r>
            <a:r>
              <a:rPr dirty="0" err="1"/>
              <a:t>main.dart</a:t>
            </a:r>
            <a:r>
              <a:rPr dirty="0"/>
              <a:t>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6750" y="760809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161579"/>
            <a:ext cx="10858500" cy="3533775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6275" y="2171104"/>
            <a:ext cx="10839450" cy="3514725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4547025"/>
              </p:ext>
            </p:extLst>
          </p:nvPr>
        </p:nvGraphicFramePr>
        <p:xfrm>
          <a:off x="676275" y="2171104"/>
          <a:ext cx="10839449" cy="3551102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79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103">
                <a:tc>
                  <a:txBody>
                    <a:bodyPr/>
                    <a:lstStyle/>
                    <a:p>
                      <a:pPr algn="l"/>
                      <a:r>
                        <a:rPr sz="1600" b="1" u="none" dirty="0" err="1">
                          <a:solidFill>
                            <a:srgbClr val="F8FAFC"/>
                          </a:solidFill>
                        </a:rPr>
                        <a:t>Paramètre</a:t>
                      </a:r>
                      <a:r>
                        <a:rPr sz="1600" b="1" u="none" dirty="0">
                          <a:solidFill>
                            <a:srgbClr val="F8FAFC"/>
                          </a:solidFill>
                        </a:rPr>
                        <a:t> / Ligne</a:t>
                      </a:r>
                      <a:endParaRPr sz="1600" b="1" i="1" u="none" dirty="0">
                        <a:solidFill>
                          <a:srgbClr val="F8FAFC"/>
                        </a:solidFill>
                        <a:latin typeface="Plus Jakarta Sans SemiBol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1" u="none" dirty="0">
                          <a:solidFill>
                            <a:srgbClr val="F8FAFC"/>
                          </a:solidFill>
                        </a:rPr>
                        <a:t>Description &amp; </a:t>
                      </a:r>
                      <a:r>
                        <a:rPr sz="1600" b="1" u="none" dirty="0" err="1">
                          <a:solidFill>
                            <a:srgbClr val="F8FAFC"/>
                          </a:solidFill>
                        </a:rPr>
                        <a:t>Rôle</a:t>
                      </a:r>
                      <a:r>
                        <a:rPr sz="1600" b="1" u="none" dirty="0">
                          <a:solidFill>
                            <a:srgbClr val="F8FAFC"/>
                          </a:solidFill>
                        </a:rPr>
                        <a:t> technique</a:t>
                      </a:r>
                      <a:endParaRPr sz="1600" b="1" i="1" u="none" dirty="0">
                        <a:solidFill>
                          <a:srgbClr val="F8FAFC"/>
                        </a:solidFill>
                        <a:latin typeface="Plus Jakarta Sans SemiBol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10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GoogleFonts.roboto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(...)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Instancie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et configure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directement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l'objet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TextStyle avec la police Roboto sans configuration YAML locale.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10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fontSize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: 20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Définit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la taille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d'affichage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en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pixels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logiques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10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fontWeight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FontWeight.bold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Configure la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graisse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de la police (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ici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: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Épaisseur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grasse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).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10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fontStyle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: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FontStyle.italic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Applique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une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inclinaison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italique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au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texte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affiché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103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color: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Colors.deepOrange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Sélectionne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la nuance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d'orange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profond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dans la palette Material.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107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letterSpacing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: 1.2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Élargit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l'espace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horizontal entre les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caractères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de 1.2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px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625" y="760809"/>
            <a:ext cx="6645275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3. Explication Ligne par Ligne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866477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0969" y="4027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7879" y="2063602"/>
            <a:ext cx="6043152" cy="772418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7879" y="3009765"/>
            <a:ext cx="6043152" cy="772418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17879" y="3936406"/>
            <a:ext cx="6043152" cy="772418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17879" y="4831464"/>
            <a:ext cx="6043152" cy="10349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882" y="2131035"/>
            <a:ext cx="5462550" cy="30777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just"/>
            <a:r>
              <a:rPr lang="fr-FR" sz="2000" dirty="0">
                <a:latin typeface="Plus Jakarta Sans SemiBold"/>
              </a:rPr>
              <a:t>Une flexibilité instantanée</a:t>
            </a:r>
            <a:r>
              <a:rPr lang="fr-FR" sz="2000" dirty="0">
                <a:latin typeface="Plus Jakarta Sans"/>
              </a:rPr>
              <a:t> p</a:t>
            </a:r>
            <a:r>
              <a:rPr sz="2000" b="0" i="0" u="none" dirty="0">
                <a:latin typeface="Plus Jakarta Sans"/>
              </a:rPr>
              <a:t>our </a:t>
            </a:r>
            <a:r>
              <a:rPr sz="2000" b="0" i="0" u="none" dirty="0" err="1">
                <a:latin typeface="Plus Jakarta Sans"/>
              </a:rPr>
              <a:t>basculer</a:t>
            </a:r>
            <a:r>
              <a:rPr sz="2000" b="0" i="0" u="none" dirty="0">
                <a:latin typeface="Plus Jakarta Sans"/>
              </a:rPr>
              <a:t> d'un style </a:t>
            </a:r>
            <a:r>
              <a:rPr sz="2000" b="0" i="0" u="none" dirty="0" err="1">
                <a:latin typeface="Plus Jakarta Sans"/>
              </a:rPr>
              <a:t>typographique</a:t>
            </a:r>
            <a:r>
              <a:rPr sz="2000" b="0" i="0" u="none" dirty="0">
                <a:latin typeface="Plus Jakarta Sans"/>
              </a:rPr>
              <a:t> à </a:t>
            </a:r>
            <a:r>
              <a:rPr sz="2000" b="0" i="0" u="none" dirty="0" err="1">
                <a:latin typeface="Plus Jakarta Sans"/>
              </a:rPr>
              <a:t>l'autre</a:t>
            </a:r>
            <a:r>
              <a:rPr sz="2000" b="0" i="0" u="none" dirty="0">
                <a:latin typeface="Plus Jakarta Sans"/>
              </a:rPr>
              <a:t>, il </a:t>
            </a:r>
            <a:r>
              <a:rPr sz="2000" b="0" i="0" u="none" dirty="0" err="1">
                <a:latin typeface="Plus Jakarta Sans"/>
              </a:rPr>
              <a:t>suffit</a:t>
            </a:r>
            <a:r>
              <a:rPr sz="2000" b="0" i="0" u="none" dirty="0">
                <a:latin typeface="Plus Jakarta Sans"/>
              </a:rPr>
              <a:t> de modifier la </a:t>
            </a:r>
            <a:r>
              <a:rPr sz="2000" b="0" i="0" u="none" dirty="0" err="1">
                <a:latin typeface="Plus Jakarta Sans"/>
              </a:rPr>
              <a:t>méthode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appelée</a:t>
            </a:r>
            <a:r>
              <a:rPr sz="2000" b="0" i="0" u="none" dirty="0">
                <a:latin typeface="Plus Jakarta Sans"/>
              </a:rPr>
              <a:t> sur la </a:t>
            </a:r>
            <a:r>
              <a:rPr sz="2000" b="0" i="0" u="none" dirty="0" err="1">
                <a:latin typeface="Plus Jakarta Sans"/>
              </a:rPr>
              <a:t>classe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globale</a:t>
            </a:r>
            <a:r>
              <a:rPr lang="fr-FR"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GoogleFonts</a:t>
            </a:r>
            <a:r>
              <a:rPr sz="2000" b="0" i="0" u="none" dirty="0">
                <a:latin typeface="Plus Jakarta Sans"/>
              </a:rPr>
              <a:t>.</a:t>
            </a:r>
            <a:endParaRPr lang="fr-FR" sz="2000" b="0" i="0" u="none" dirty="0">
              <a:latin typeface="Plus Jakarta Sans"/>
            </a:endParaRPr>
          </a:p>
          <a:p>
            <a:pPr algn="just"/>
            <a:r>
              <a:rPr lang="fr-FR" sz="2000" dirty="0">
                <a:latin typeface="Plus Jakarta Sans"/>
              </a:rPr>
              <a:t>Grâce au mécanisme de </a:t>
            </a:r>
            <a:r>
              <a:rPr lang="fr-FR" sz="2000" b="1" dirty="0">
                <a:solidFill>
                  <a:srgbClr val="0284C7"/>
                </a:solidFill>
                <a:latin typeface="Plus Jakarta Sans"/>
              </a:rPr>
              <a:t>Hot </a:t>
            </a:r>
            <a:r>
              <a:rPr lang="fr-FR" sz="2000" b="1" dirty="0" err="1">
                <a:solidFill>
                  <a:srgbClr val="0284C7"/>
                </a:solidFill>
                <a:latin typeface="Plus Jakarta Sans"/>
              </a:rPr>
              <a:t>Reload</a:t>
            </a:r>
            <a:r>
              <a:rPr lang="fr-FR" sz="2000" dirty="0">
                <a:solidFill>
                  <a:srgbClr val="475569"/>
                </a:solidFill>
                <a:latin typeface="Plus Jakarta Sans"/>
              </a:rPr>
              <a:t> </a:t>
            </a:r>
            <a:r>
              <a:rPr lang="fr-FR" sz="2000" dirty="0">
                <a:latin typeface="Plus Jakarta Sans"/>
              </a:rPr>
              <a:t>de Flutter (déclenché lors d'une sauvegarde </a:t>
            </a:r>
            <a:r>
              <a:rPr lang="fr-FR" sz="2000" dirty="0" err="1">
                <a:latin typeface="Plus Jakarta Sans"/>
              </a:rPr>
              <a:t>Ctrl+S</a:t>
            </a:r>
            <a:r>
              <a:rPr lang="fr-FR" sz="2000" dirty="0">
                <a:latin typeface="Plus Jakarta Sans"/>
              </a:rPr>
              <a:t>), les changements esthétiques apparaissent en moins d'une seconde sur le terminal de test, sans nécessiter de redémarrage complet du moteur d'application.</a:t>
            </a:r>
          </a:p>
          <a:p>
            <a:pPr algn="just"/>
            <a:endParaRPr sz="2000" b="0" i="0" u="none" dirty="0">
              <a:solidFill>
                <a:srgbClr val="475569"/>
              </a:solidFill>
              <a:latin typeface="Plus Jakarta San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886825" y="2359477"/>
            <a:ext cx="1524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FBBF24"/>
                </a:solidFill>
                <a:latin typeface="JetBrains Mono"/>
              </a:rPr>
              <a:t>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73779" y="3310249"/>
            <a:ext cx="1524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FBBF24"/>
                </a:solidFill>
                <a:latin typeface="JetBrains Mono"/>
              </a:rPr>
              <a:t>24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0373" y="4236890"/>
            <a:ext cx="1524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FBBF24"/>
                </a:solidFill>
                <a:latin typeface="JetBrains Mono"/>
              </a:rPr>
              <a:t>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26179" y="5118905"/>
            <a:ext cx="152400" cy="17979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68"/>
              </a:lnSpc>
            </a:pPr>
            <a:r>
              <a:rPr sz="1100" b="0" i="0" u="none" dirty="0">
                <a:solidFill>
                  <a:srgbClr val="FBBF24"/>
                </a:solidFill>
                <a:latin typeface="JetBrains Mono"/>
              </a:rPr>
              <a:t>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667344"/>
            <a:ext cx="1125140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4. Tester </a:t>
            </a:r>
            <a:r>
              <a:rPr sz="4000" b="1" i="0" u="none" dirty="0" err="1">
                <a:solidFill>
                  <a:srgbClr val="0F172A"/>
                </a:solidFill>
                <a:latin typeface="Plus Jakarta Sans"/>
              </a:rPr>
              <a:t>d'autres</a:t>
            </a:r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 Polices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6750" y="760809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19200" y="1774064"/>
            <a:ext cx="10191750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0284C7"/>
                </a:solidFill>
                <a:latin typeface="Plus Jakarta Sans"/>
              </a:rPr>
              <a:t>Indentation </a:t>
            </a:r>
            <a:r>
              <a:rPr b="1" i="0" u="none" dirty="0" err="1">
                <a:solidFill>
                  <a:srgbClr val="0284C7"/>
                </a:solidFill>
                <a:latin typeface="Plus Jakarta Sans"/>
              </a:rPr>
              <a:t>stricte</a:t>
            </a:r>
            <a:r>
              <a:rPr b="1" i="0" u="none" dirty="0">
                <a:solidFill>
                  <a:srgbClr val="0284C7"/>
                </a:solidFill>
                <a:latin typeface="Plus Jakarta Sans"/>
              </a:rPr>
              <a:t> du </a:t>
            </a:r>
            <a:r>
              <a:rPr b="1" i="0" u="none" dirty="0" err="1">
                <a:solidFill>
                  <a:srgbClr val="0284C7"/>
                </a:solidFill>
                <a:latin typeface="Plus Jakarta Sans"/>
              </a:rPr>
              <a:t>pubspec.yaml</a:t>
            </a:r>
            <a:r>
              <a:rPr b="1" i="0" u="none" dirty="0">
                <a:solidFill>
                  <a:srgbClr val="0284C7"/>
                </a:solidFill>
                <a:latin typeface="Plus Jakarta Sans"/>
              </a:rPr>
              <a:t> :</a:t>
            </a:r>
            <a:r>
              <a:rPr b="0" i="0" u="none" dirty="0">
                <a:solidFill>
                  <a:srgbClr val="0284C7"/>
                </a:solidFill>
                <a:latin typeface="Plus Jakarta Sans"/>
              </a:rPr>
              <a:t> </a:t>
            </a:r>
            <a:r>
              <a:rPr b="0" i="0" u="none" dirty="0">
                <a:latin typeface="Plus Jakarta Sans"/>
              </a:rPr>
              <a:t>Ce </a:t>
            </a:r>
            <a:r>
              <a:rPr b="0" i="0" u="none" dirty="0" err="1">
                <a:latin typeface="Plus Jakarta Sans"/>
              </a:rPr>
              <a:t>fichier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s'appuie</a:t>
            </a:r>
            <a:r>
              <a:rPr b="0" i="0" u="none" dirty="0">
                <a:latin typeface="Plus Jakarta Sans"/>
              </a:rPr>
              <a:t> sur le format YAML. Un </a:t>
            </a:r>
            <a:r>
              <a:rPr b="0" i="0" u="none" dirty="0" err="1">
                <a:latin typeface="Plus Jakarta Sans"/>
              </a:rPr>
              <a:t>espacement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erroné</a:t>
            </a:r>
            <a:r>
              <a:rPr b="0" i="0" u="none" dirty="0">
                <a:latin typeface="Plus Jakarta Sans"/>
              </a:rPr>
              <a:t> (</a:t>
            </a:r>
            <a:r>
              <a:rPr b="0" i="0" u="none" dirty="0" err="1">
                <a:latin typeface="Plus Jakarta Sans"/>
              </a:rPr>
              <a:t>l'usage</a:t>
            </a:r>
            <a:r>
              <a:rPr b="0" i="0" u="none" dirty="0">
                <a:latin typeface="Plus Jakarta Sans"/>
              </a:rPr>
              <a:t> de tabulations au lieu des </a:t>
            </a:r>
            <a:r>
              <a:rPr b="0" i="0" u="none" dirty="0" err="1">
                <a:latin typeface="Plus Jakarta Sans"/>
              </a:rPr>
              <a:t>espaces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requis</a:t>
            </a:r>
            <a:r>
              <a:rPr b="0" i="0" u="none" dirty="0">
                <a:latin typeface="Plus Jakarta Sans"/>
              </a:rPr>
              <a:t>) </a:t>
            </a:r>
            <a:r>
              <a:rPr b="0" i="0" u="none" dirty="0" err="1">
                <a:latin typeface="Plus Jakarta Sans"/>
              </a:rPr>
              <a:t>bloque</a:t>
            </a:r>
            <a:r>
              <a:rPr b="0" i="0" u="none" dirty="0">
                <a:latin typeface="Plus Jakarta Sans"/>
              </a:rPr>
              <a:t> le processus de build de </a:t>
            </a:r>
            <a:r>
              <a:rPr b="0" i="0" u="none" dirty="0" err="1">
                <a:latin typeface="Plus Jakarta Sans"/>
              </a:rPr>
              <a:t>l'application</a:t>
            </a:r>
            <a:r>
              <a:rPr b="0" i="0" u="none" dirty="0">
                <a:latin typeface="Plus Jakarta Sans"/>
              </a:rPr>
              <a:t>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19200" y="2517929"/>
            <a:ext cx="10191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0284C7"/>
                </a:solidFill>
                <a:latin typeface="Plus Jakarta Sans"/>
              </a:rPr>
              <a:t>Racine unique flutter :</a:t>
            </a:r>
            <a:r>
              <a:rPr b="0" i="0" u="none" dirty="0">
                <a:solidFill>
                  <a:srgbClr val="0284C7"/>
                </a:solidFill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Veillez</a:t>
            </a:r>
            <a:r>
              <a:rPr b="0" i="0" u="none" dirty="0">
                <a:latin typeface="Plus Jakarta Sans"/>
              </a:rPr>
              <a:t> à ne jamais </a:t>
            </a:r>
            <a:r>
              <a:rPr b="0" i="0" u="none" dirty="0" err="1">
                <a:latin typeface="Plus Jakarta Sans"/>
              </a:rPr>
              <a:t>dupliquer</a:t>
            </a:r>
            <a:r>
              <a:rPr b="0" i="0" u="none" dirty="0">
                <a:latin typeface="Plus Jakarta Sans"/>
              </a:rPr>
              <a:t> la </a:t>
            </a:r>
            <a:r>
              <a:rPr b="0" i="0" u="none" dirty="0" err="1">
                <a:latin typeface="Plus Jakarta Sans"/>
              </a:rPr>
              <a:t>clé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racine</a:t>
            </a:r>
            <a:r>
              <a:rPr b="0" i="0" u="none" dirty="0">
                <a:latin typeface="Plus Jakarta Sans"/>
              </a:rPr>
              <a:t> flutter: </a:t>
            </a:r>
            <a:r>
              <a:rPr b="0" i="0" u="none" dirty="0" err="1">
                <a:latin typeface="Plus Jakarta Sans"/>
              </a:rPr>
              <a:t>présente</a:t>
            </a:r>
            <a:r>
              <a:rPr b="0" i="0" u="none" dirty="0">
                <a:latin typeface="Plus Jakarta Sans"/>
              </a:rPr>
              <a:t> par </a:t>
            </a:r>
            <a:r>
              <a:rPr b="0" i="0" u="none" dirty="0" err="1">
                <a:latin typeface="Plus Jakarta Sans"/>
              </a:rPr>
              <a:t>défaut</a:t>
            </a:r>
            <a:r>
              <a:rPr b="0" i="0" u="none" dirty="0">
                <a:latin typeface="Plus Jakarta Sans"/>
              </a:rPr>
              <a:t>. Elle ne doit </a:t>
            </a:r>
            <a:r>
              <a:rPr b="0" i="0" u="none" dirty="0" err="1">
                <a:latin typeface="Plus Jakarta Sans"/>
              </a:rPr>
              <a:t>être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déclarée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qu'une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seule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fois</a:t>
            </a:r>
            <a:r>
              <a:rPr b="0" i="0" u="none" dirty="0">
                <a:latin typeface="Plus Jakarta Sans"/>
              </a:rPr>
              <a:t> dans le </a:t>
            </a:r>
            <a:r>
              <a:rPr b="0" i="0" u="none" dirty="0" err="1">
                <a:latin typeface="Plus Jakarta Sans"/>
              </a:rPr>
              <a:t>fichier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entier</a:t>
            </a:r>
            <a:r>
              <a:rPr b="0" i="0" u="none" dirty="0">
                <a:latin typeface="Plus Jakarta Sans"/>
              </a:rPr>
              <a:t>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19200" y="3196564"/>
            <a:ext cx="10191750" cy="4648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>
                <a:solidFill>
                  <a:srgbClr val="0284C7"/>
                </a:solidFill>
                <a:latin typeface="Plus Jakarta Sans"/>
              </a:rPr>
              <a:t>Resolve save conflict :</a:t>
            </a:r>
            <a:r>
              <a:rPr b="0" i="0" u="none" dirty="0">
                <a:solidFill>
                  <a:srgbClr val="0284C7"/>
                </a:solidFill>
                <a:latin typeface="Plus Jakarta Sans"/>
              </a:rPr>
              <a:t> </a:t>
            </a:r>
            <a:r>
              <a:rPr b="0" i="0" u="none" dirty="0">
                <a:latin typeface="Plus Jakarta Sans"/>
              </a:rPr>
              <a:t>En </a:t>
            </a:r>
            <a:r>
              <a:rPr b="0" i="0" u="none" dirty="0" err="1">
                <a:latin typeface="Plus Jakarta Sans"/>
              </a:rPr>
              <a:t>cas</a:t>
            </a:r>
            <a:r>
              <a:rPr b="0" i="0" u="none" dirty="0">
                <a:latin typeface="Plus Jakarta Sans"/>
              </a:rPr>
              <a:t> de </a:t>
            </a:r>
            <a:r>
              <a:rPr b="0" i="0" u="none" dirty="0" err="1">
                <a:latin typeface="Plus Jakarta Sans"/>
              </a:rPr>
              <a:t>conflit</a:t>
            </a:r>
            <a:r>
              <a:rPr b="0" i="0" u="none" dirty="0">
                <a:latin typeface="Plus Jakarta Sans"/>
              </a:rPr>
              <a:t> matériel </a:t>
            </a:r>
            <a:r>
              <a:rPr b="0" i="0" u="none" dirty="0" err="1">
                <a:latin typeface="Plus Jakarta Sans"/>
              </a:rPr>
              <a:t>lors</a:t>
            </a:r>
            <a:r>
              <a:rPr b="0" i="0" u="none" dirty="0">
                <a:latin typeface="Plus Jakarta Sans"/>
              </a:rPr>
              <a:t> de </a:t>
            </a:r>
            <a:r>
              <a:rPr b="0" i="0" u="none" dirty="0" err="1">
                <a:latin typeface="Plus Jakarta Sans"/>
              </a:rPr>
              <a:t>l'enregistrement</a:t>
            </a:r>
            <a:r>
              <a:rPr b="0" i="0" u="none" dirty="0">
                <a:latin typeface="Plus Jakarta Sans"/>
              </a:rPr>
              <a:t> de </a:t>
            </a:r>
            <a:r>
              <a:rPr b="0" i="0" u="none" dirty="0" err="1">
                <a:latin typeface="Plus Jakarta Sans"/>
              </a:rPr>
              <a:t>vos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fichiers</a:t>
            </a:r>
            <a:r>
              <a:rPr b="0" i="0" u="none" dirty="0">
                <a:latin typeface="Plus Jakarta Sans"/>
              </a:rPr>
              <a:t> source, </a:t>
            </a:r>
            <a:r>
              <a:rPr b="0" i="0" u="none" dirty="0" err="1">
                <a:latin typeface="Plus Jakarta Sans"/>
              </a:rPr>
              <a:t>comparez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soigneusement</a:t>
            </a:r>
            <a:r>
              <a:rPr b="0" i="0" u="none" dirty="0">
                <a:latin typeface="Plus Jakarta Sans"/>
              </a:rPr>
              <a:t> les états pour </a:t>
            </a:r>
            <a:r>
              <a:rPr b="0" i="0" u="none" dirty="0" err="1">
                <a:latin typeface="Plus Jakarta Sans"/>
              </a:rPr>
              <a:t>préserver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votre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logique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récente</a:t>
            </a:r>
            <a:r>
              <a:rPr b="0" i="0" u="none" dirty="0">
                <a:latin typeface="Plus Jakarta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19200" y="3901432"/>
            <a:ext cx="10191750" cy="4667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b="1" i="0" u="none" dirty="0" err="1">
                <a:solidFill>
                  <a:srgbClr val="0284C7"/>
                </a:solidFill>
                <a:latin typeface="Plus Jakarta Sans"/>
              </a:rPr>
              <a:t>Analyse</a:t>
            </a:r>
            <a:r>
              <a:rPr b="1" i="0" u="none" dirty="0">
                <a:solidFill>
                  <a:srgbClr val="0284C7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0284C7"/>
                </a:solidFill>
                <a:latin typeface="Plus Jakarta Sans"/>
              </a:rPr>
              <a:t>statique</a:t>
            </a:r>
            <a:r>
              <a:rPr b="1" i="0" u="none" dirty="0">
                <a:solidFill>
                  <a:srgbClr val="0284C7"/>
                </a:solidFill>
                <a:latin typeface="Plus Jakarta Sans"/>
              </a:rPr>
              <a:t> </a:t>
            </a:r>
            <a:r>
              <a:rPr b="1" i="0" u="none" dirty="0" err="1">
                <a:solidFill>
                  <a:srgbClr val="0284C7"/>
                </a:solidFill>
                <a:latin typeface="Plus Jakarta Sans"/>
              </a:rPr>
              <a:t>globale</a:t>
            </a:r>
            <a:r>
              <a:rPr b="1" i="0" u="none" dirty="0">
                <a:solidFill>
                  <a:srgbClr val="0284C7"/>
                </a:solidFill>
                <a:latin typeface="Plus Jakarta Sans"/>
              </a:rPr>
              <a:t> :</a:t>
            </a:r>
            <a:r>
              <a:rPr b="0" i="0" u="none" dirty="0">
                <a:solidFill>
                  <a:srgbClr val="0284C7"/>
                </a:solidFill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Utilisez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l'outil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utilitaire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intégré</a:t>
            </a:r>
            <a:r>
              <a:rPr b="0" i="0" u="none" dirty="0">
                <a:latin typeface="Plus Jakarta Sans"/>
              </a:rPr>
              <a:t> flutter analyze dans </a:t>
            </a:r>
            <a:r>
              <a:rPr b="0" i="0" u="none" dirty="0" err="1">
                <a:latin typeface="Plus Jakarta Sans"/>
              </a:rPr>
              <a:t>votre</a:t>
            </a:r>
            <a:r>
              <a:rPr b="0" i="0" u="none" dirty="0">
                <a:latin typeface="Plus Jakarta Sans"/>
              </a:rPr>
              <a:t> terminal pour identifier </a:t>
            </a:r>
            <a:r>
              <a:rPr b="0" i="0" u="none" dirty="0" err="1">
                <a:latin typeface="Plus Jakarta Sans"/>
              </a:rPr>
              <a:t>rapidement</a:t>
            </a:r>
            <a:r>
              <a:rPr b="0" i="0" u="none" dirty="0">
                <a:latin typeface="Plus Jakarta Sans"/>
              </a:rPr>
              <a:t> les </a:t>
            </a:r>
            <a:r>
              <a:rPr b="0" i="0" u="none" dirty="0" err="1">
                <a:latin typeface="Plus Jakarta Sans"/>
              </a:rPr>
              <a:t>erreurs</a:t>
            </a:r>
            <a:r>
              <a:rPr b="0" i="0" u="none" dirty="0">
                <a:latin typeface="Plus Jakarta Sans"/>
              </a:rPr>
              <a:t> de </a:t>
            </a:r>
            <a:r>
              <a:rPr b="0" i="0" u="none" dirty="0" err="1">
                <a:latin typeface="Plus Jakarta Sans"/>
              </a:rPr>
              <a:t>syntaxe</a:t>
            </a:r>
            <a:r>
              <a:rPr b="0" i="0" u="none" dirty="0">
                <a:latin typeface="Plus Jakarta Sans"/>
              </a:rPr>
              <a:t> </a:t>
            </a:r>
            <a:r>
              <a:rPr b="0" i="0" u="none" dirty="0" err="1">
                <a:latin typeface="Plus Jakarta Sans"/>
              </a:rPr>
              <a:t>latentes</a:t>
            </a:r>
            <a:r>
              <a:rPr b="0" i="0" u="none" dirty="0">
                <a:latin typeface="Plus Jakarta Sans"/>
              </a:rPr>
              <a:t> du </a:t>
            </a:r>
            <a:r>
              <a:rPr b="0" i="0" u="none" dirty="0" err="1">
                <a:latin typeface="Plus Jakarta Sans"/>
              </a:rPr>
              <a:t>projet</a:t>
            </a:r>
            <a:r>
              <a:rPr b="0" i="0" u="none" dirty="0">
                <a:latin typeface="Plus Jakarta Sans"/>
              </a:rPr>
              <a:t>.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164" y="1765525"/>
            <a:ext cx="456585" cy="481951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1165" y="2532000"/>
            <a:ext cx="456585" cy="481951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1165" y="3214228"/>
            <a:ext cx="456585" cy="481951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1164" y="3901432"/>
            <a:ext cx="456584" cy="48195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19456" y="667344"/>
            <a:ext cx="11251406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000" b="1" i="0" u="none" dirty="0">
                <a:solidFill>
                  <a:srgbClr val="0F172A"/>
                </a:solidFill>
                <a:latin typeface="Plus Jakarta Sans"/>
              </a:rPr>
              <a:t>5. Points de Vigilance YAML &amp; Dev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66750" y="760809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286000" y="2571750"/>
            <a:ext cx="7620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38BDF8"/>
                </a:solidFill>
                <a:latin typeface="Plus Jakarta Sans"/>
              </a:rPr>
              <a:t>PARTIE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5287" y="2952750"/>
            <a:ext cx="11401425" cy="6286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8FAFC"/>
                </a:solidFill>
                <a:latin typeface="Plus Jakarta Sans"/>
              </a:rPr>
              <a:t>Désactiver la Rotation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000500"/>
            <a:ext cx="7620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94A3B8"/>
                </a:solidFill>
                <a:latin typeface="Plus Jakarta Sans"/>
              </a:rPr>
              <a:t>Forcer l'orientation fixe pour garantir une interface utilisateur cohérente.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19690"/>
            <a:ext cx="5961026" cy="41185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66750" y="2118717"/>
            <a:ext cx="5238750" cy="2408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latin typeface="Plus Jakarta Sans SemiBold"/>
              </a:rPr>
              <a:t>La </a:t>
            </a:r>
            <a:r>
              <a:rPr sz="2000" b="0" i="0" u="none" dirty="0" err="1">
                <a:latin typeface="Plus Jakarta Sans SemiBold"/>
              </a:rPr>
              <a:t>classe</a:t>
            </a:r>
            <a:r>
              <a:rPr sz="2000" b="0" i="0" u="none" dirty="0">
                <a:latin typeface="Plus Jakarta Sans SemiBold"/>
              </a:rPr>
              <a:t> </a:t>
            </a:r>
            <a:r>
              <a:rPr sz="2000" b="0" i="0" u="none" dirty="0" err="1">
                <a:latin typeface="Plus Jakarta Sans SemiBold"/>
              </a:rPr>
              <a:t>SystemChrome</a:t>
            </a:r>
            <a:endParaRPr sz="2000" b="0" i="0" u="none" dirty="0">
              <a:latin typeface="Plus Jakarta Sans SemiBold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66750" y="2521138"/>
            <a:ext cx="5238750" cy="9333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latin typeface="Plus Jakarta Sans"/>
              </a:rPr>
              <a:t>Pour forcer </a:t>
            </a:r>
            <a:r>
              <a:rPr sz="2000" b="0" i="0" u="none" dirty="0" err="1">
                <a:latin typeface="Plus Jakarta Sans"/>
              </a:rPr>
              <a:t>l'application</a:t>
            </a:r>
            <a:r>
              <a:rPr sz="2000" b="0" i="0" u="none" dirty="0">
                <a:latin typeface="Plus Jakarta Sans"/>
              </a:rPr>
              <a:t> à conserver un </a:t>
            </a:r>
            <a:r>
              <a:rPr sz="2000" b="0" i="0" u="none" dirty="0" err="1">
                <a:latin typeface="Plus Jakarta Sans"/>
              </a:rPr>
              <a:t>affichage</a:t>
            </a:r>
            <a:r>
              <a:rPr sz="2000" b="0" i="0" u="none" dirty="0">
                <a:latin typeface="Plus Jakarta Sans"/>
              </a:rPr>
              <a:t> constant (</a:t>
            </a:r>
            <a:r>
              <a:rPr sz="2000" b="0" i="0" u="none" dirty="0" err="1">
                <a:latin typeface="Plus Jakarta Sans"/>
              </a:rPr>
              <a:t>comme</a:t>
            </a:r>
            <a:r>
              <a:rPr sz="2000" b="0" i="0" u="none" dirty="0">
                <a:latin typeface="Plus Jakarta Sans"/>
              </a:rPr>
              <a:t> le mode Portrait </a:t>
            </a:r>
            <a:r>
              <a:rPr sz="2000" b="0" i="0" u="none" dirty="0" err="1">
                <a:latin typeface="Plus Jakarta Sans"/>
              </a:rPr>
              <a:t>uniquement</a:t>
            </a:r>
            <a:r>
              <a:rPr sz="2000" b="0" i="0" u="none" dirty="0">
                <a:latin typeface="Plus Jakarta Sans"/>
              </a:rPr>
              <a:t>), nous </a:t>
            </a:r>
            <a:r>
              <a:rPr sz="2000" b="0" i="0" u="none" dirty="0" err="1">
                <a:latin typeface="Plus Jakarta Sans"/>
              </a:rPr>
              <a:t>exploitons</a:t>
            </a:r>
            <a:r>
              <a:rPr sz="2000" b="0" i="0" u="none" dirty="0">
                <a:latin typeface="Plus Jakarta Sans"/>
              </a:rPr>
              <a:t> le module </a:t>
            </a:r>
            <a:r>
              <a:rPr sz="2000" b="0" i="0" u="none" dirty="0" err="1">
                <a:latin typeface="Plus Jakarta Sans"/>
              </a:rPr>
              <a:t>d'interface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natif</a:t>
            </a:r>
            <a:r>
              <a:rPr sz="2000" b="0" i="0" u="none" dirty="0">
                <a:latin typeface="Plus Jakarta Sans"/>
              </a:rPr>
              <a:t> de Flutter : flutter/</a:t>
            </a:r>
            <a:r>
              <a:rPr sz="2000" b="0" i="0" u="none" dirty="0" err="1">
                <a:latin typeface="Plus Jakarta Sans"/>
              </a:rPr>
              <a:t>services.dart</a:t>
            </a:r>
            <a:r>
              <a:rPr sz="2000" b="0" i="0" u="none" dirty="0">
                <a:latin typeface="Plus Jakarta Sans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6750" y="3556142"/>
            <a:ext cx="5238750" cy="702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2000" b="0" i="0" u="none" dirty="0">
                <a:latin typeface="Plus Jakarta Sans"/>
              </a:rPr>
              <a:t>Cette </a:t>
            </a:r>
            <a:r>
              <a:rPr sz="2000" b="0" i="0" u="none" dirty="0" err="1">
                <a:latin typeface="Plus Jakarta Sans"/>
              </a:rPr>
              <a:t>approche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bloque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l'adaptation</a:t>
            </a:r>
            <a:r>
              <a:rPr sz="2000" b="0" i="0" u="none" dirty="0">
                <a:latin typeface="Plus Jakarta Sans"/>
              </a:rPr>
              <a:t> de </a:t>
            </a:r>
            <a:r>
              <a:rPr sz="2000" b="0" i="0" u="none" dirty="0" err="1">
                <a:latin typeface="Plus Jakarta Sans"/>
              </a:rPr>
              <a:t>l'interface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même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si</a:t>
            </a:r>
            <a:r>
              <a:rPr sz="2000" b="0" i="0" u="none" dirty="0">
                <a:latin typeface="Plus Jakarta Sans"/>
              </a:rPr>
              <a:t> le périphérique mobile physique </a:t>
            </a:r>
            <a:r>
              <a:rPr sz="2000" b="0" i="0" u="none" dirty="0" err="1">
                <a:latin typeface="Plus Jakarta Sans"/>
              </a:rPr>
              <a:t>subit</a:t>
            </a:r>
            <a:r>
              <a:rPr sz="2000" b="0" i="0" u="none" dirty="0">
                <a:latin typeface="Plus Jakarta Sans"/>
              </a:rPr>
              <a:t> </a:t>
            </a:r>
            <a:r>
              <a:rPr sz="2000" b="0" i="0" u="none" dirty="0" err="1">
                <a:latin typeface="Plus Jakarta Sans"/>
              </a:rPr>
              <a:t>une</a:t>
            </a:r>
            <a:r>
              <a:rPr sz="2000" b="0" i="0" u="none" dirty="0">
                <a:latin typeface="Plus Jakarta Sans"/>
              </a:rPr>
              <a:t> rotation de </a:t>
            </a:r>
            <a:r>
              <a:rPr sz="2000" b="0" i="0" u="none" dirty="0" err="1">
                <a:latin typeface="Plus Jakarta Sans"/>
              </a:rPr>
              <a:t>l'utilisateur</a:t>
            </a:r>
            <a:r>
              <a:rPr sz="2000" b="0" i="0" u="none" dirty="0">
                <a:latin typeface="Plus Jakarta Sans"/>
              </a:rPr>
              <a:t>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57737" y="1827581"/>
            <a:ext cx="4572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>
                <a:solidFill>
                  <a:srgbClr val="F472B6"/>
                </a:solidFill>
                <a:latin typeface="JetBrains Mono"/>
              </a:rPr>
              <a:t>import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57975" y="1853308"/>
            <a:ext cx="2362200" cy="17190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100" b="0" i="0" u="none" dirty="0">
                <a:solidFill>
                  <a:srgbClr val="34D399"/>
                </a:solidFill>
                <a:latin typeface="JetBrains Mono"/>
              </a:rPr>
              <a:t>'</a:t>
            </a:r>
            <a:r>
              <a:rPr sz="1100" b="0" i="0" u="none" dirty="0" err="1">
                <a:solidFill>
                  <a:srgbClr val="34D399"/>
                </a:solidFill>
                <a:latin typeface="JetBrains Mono"/>
              </a:rPr>
              <a:t>package:flutter</a:t>
            </a:r>
            <a:r>
              <a:rPr sz="1100" b="0" i="0" u="none" dirty="0">
                <a:solidFill>
                  <a:srgbClr val="34D399"/>
                </a:solidFill>
                <a:latin typeface="JetBrains Mono"/>
              </a:rPr>
              <a:t>/</a:t>
            </a:r>
            <a:r>
              <a:rPr sz="1100" b="0" i="0" u="none" dirty="0" err="1">
                <a:solidFill>
                  <a:srgbClr val="34D399"/>
                </a:solidFill>
                <a:latin typeface="JetBrains Mono"/>
              </a:rPr>
              <a:t>material.dart</a:t>
            </a:r>
            <a:r>
              <a:rPr sz="1100" b="0" i="0" u="none" dirty="0">
                <a:solidFill>
                  <a:srgbClr val="34D399"/>
                </a:solidFill>
                <a:latin typeface="JetBrains Mono"/>
              </a:rPr>
              <a:t>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57737" y="2079796"/>
            <a:ext cx="4572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>
                <a:solidFill>
                  <a:srgbClr val="F472B6"/>
                </a:solidFill>
                <a:latin typeface="JetBrains Mono"/>
              </a:rPr>
              <a:t>import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9875" y="2064247"/>
            <a:ext cx="23622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'</a:t>
            </a:r>
            <a:r>
              <a:rPr sz="1200" b="0" i="0" u="none" dirty="0" err="1">
                <a:solidFill>
                  <a:srgbClr val="34D399"/>
                </a:solidFill>
                <a:latin typeface="JetBrains Mono"/>
              </a:rPr>
              <a:t>package:flutter</a:t>
            </a: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/</a:t>
            </a:r>
            <a:r>
              <a:rPr sz="1200" b="0" i="0" u="none" dirty="0" err="1">
                <a:solidFill>
                  <a:srgbClr val="34D399"/>
                </a:solidFill>
                <a:latin typeface="JetBrains Mono"/>
              </a:rPr>
              <a:t>services.dart</a:t>
            </a: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'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53550" y="2025140"/>
            <a:ext cx="3048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>
                <a:solidFill>
                  <a:srgbClr val="38BDF8"/>
                </a:solidFill>
                <a:latin typeface="JetBrains Mono"/>
              </a:rPr>
              <a:t>void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05437" y="2233623"/>
            <a:ext cx="16002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 err="1">
                <a:solidFill>
                  <a:srgbClr val="38BDF8"/>
                </a:solidFill>
                <a:latin typeface="JetBrains Mono"/>
              </a:rPr>
              <a:t>WidgetsFlutterBinding</a:t>
            </a:r>
            <a:endParaRPr sz="1200" b="0" i="0" u="none" dirty="0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75968" y="2432296"/>
            <a:ext cx="11049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 err="1">
                <a:solidFill>
                  <a:srgbClr val="38BDF8"/>
                </a:solidFill>
                <a:latin typeface="JetBrains Mono"/>
              </a:rPr>
              <a:t>SystemChrome</a:t>
            </a:r>
            <a:endParaRPr sz="1200" b="0" i="0" u="none" dirty="0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710187" y="2645411"/>
            <a:ext cx="1295400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 err="1">
                <a:solidFill>
                  <a:srgbClr val="38BDF8"/>
                </a:solidFill>
                <a:latin typeface="JetBrains Mono"/>
              </a:rPr>
              <a:t>DeviceOrientation</a:t>
            </a:r>
            <a:endParaRPr sz="1200" b="0" i="0" u="none" dirty="0">
              <a:solidFill>
                <a:srgbClr val="38BDF8"/>
              </a:solidFill>
              <a:latin typeface="JetBrains Mono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157737" y="3033049"/>
            <a:ext cx="1104901" cy="1795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13"/>
              </a:lnSpc>
            </a:pP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'</a:t>
            </a:r>
            <a:r>
              <a:rPr sz="1200" b="0" i="0" u="none" dirty="0" err="1">
                <a:solidFill>
                  <a:srgbClr val="34D399"/>
                </a:solidFill>
                <a:latin typeface="JetBrains Mono"/>
              </a:rPr>
              <a:t>Fixé</a:t>
            </a: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 </a:t>
            </a:r>
            <a:r>
              <a:rPr sz="1200" b="0" i="0" u="none" dirty="0" err="1">
                <a:solidFill>
                  <a:srgbClr val="34D399"/>
                </a:solidFill>
                <a:latin typeface="JetBrains Mono"/>
              </a:rPr>
              <a:t>en</a:t>
            </a:r>
            <a:r>
              <a:rPr sz="1200" b="0" i="0" u="none" dirty="0">
                <a:solidFill>
                  <a:srgbClr val="34D399"/>
                </a:solidFill>
                <a:latin typeface="JetBrains Mono"/>
              </a:rPr>
              <a:t> Portrait'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9625" y="760809"/>
            <a:ext cx="1125140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1. Code d'Orientation (main.dart)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750" y="760809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444948"/>
            <a:ext cx="10858500" cy="2967037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76275" y="2454473"/>
            <a:ext cx="10839450" cy="2947987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42685304"/>
              </p:ext>
            </p:extLst>
          </p:nvPr>
        </p:nvGraphicFramePr>
        <p:xfrm>
          <a:off x="676275" y="2454473"/>
          <a:ext cx="10839449" cy="2947987"/>
        </p:xfrm>
        <a:graphic>
          <a:graphicData uri="http://schemas.openxmlformats.org/drawingml/2006/table">
            <a:tbl>
              <a:tblPr firstRow="1" bandRow="1">
                <a:tableStyleId>{FABFCF23-3B69-468F-B69F-88F6DE6A72F2}</a:tableStyleId>
              </a:tblPr>
              <a:tblGrid>
                <a:gridCol w="379377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456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9597">
                <a:tc>
                  <a:txBody>
                    <a:bodyPr/>
                    <a:lstStyle/>
                    <a:p>
                      <a:pPr algn="l"/>
                      <a:r>
                        <a:rPr sz="1800" b="1" u="none" dirty="0">
                          <a:solidFill>
                            <a:srgbClr val="F8FAFC"/>
                          </a:solidFill>
                        </a:rPr>
                        <a:t>Instruction </a:t>
                      </a:r>
                      <a:r>
                        <a:rPr sz="1800" b="1" u="none" dirty="0" err="1">
                          <a:solidFill>
                            <a:srgbClr val="F8FAFC"/>
                          </a:solidFill>
                        </a:rPr>
                        <a:t>clé</a:t>
                      </a:r>
                      <a:endParaRPr sz="1800" b="1" i="0" u="none" dirty="0">
                        <a:solidFill>
                          <a:srgbClr val="F8FAFC"/>
                        </a:solidFill>
                        <a:latin typeface="Plus Jakarta Sans SemiBold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800" b="1" u="none" dirty="0" err="1">
                          <a:solidFill>
                            <a:srgbClr val="F8FAFC"/>
                          </a:solidFill>
                        </a:rPr>
                        <a:t>Rôle</a:t>
                      </a:r>
                      <a:r>
                        <a:rPr sz="1800" b="1" u="none" dirty="0">
                          <a:solidFill>
                            <a:srgbClr val="F8FAFC"/>
                          </a:solidFill>
                        </a:rPr>
                        <a:t> et </a:t>
                      </a:r>
                      <a:r>
                        <a:rPr sz="1800" b="1" u="none" dirty="0" err="1">
                          <a:solidFill>
                            <a:srgbClr val="F8FAFC"/>
                          </a:solidFill>
                        </a:rPr>
                        <a:t>comportement</a:t>
                      </a:r>
                      <a:r>
                        <a:rPr sz="1800" b="1" u="none" dirty="0">
                          <a:solidFill>
                            <a:srgbClr val="F8FAFC"/>
                          </a:solidFill>
                        </a:rPr>
                        <a:t> technique</a:t>
                      </a:r>
                      <a:endParaRPr sz="1800" b="1" i="1" u="none" dirty="0">
                        <a:solidFill>
                          <a:srgbClr val="F8FAFC"/>
                        </a:solidFill>
                        <a:latin typeface="Plus Jakarta Sans SemiBold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import '.../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services.dart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'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Offre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un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accès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complet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au canal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natif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requis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pour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contrôler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le hardware du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système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(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comme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SystemChrome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).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ensureInitialized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()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Garantit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la liaison des bindings du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moteur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Flutter avant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d'effectuer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un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appel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asynchrone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aux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canaux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d'API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natifs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9597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setPreferredOrientations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(...)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Définit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la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liste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des orientations physiques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autorisées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par le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système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d'exploitation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pour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cette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application.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9599">
                <a:tc>
                  <a:txBody>
                    <a:bodyPr/>
                    <a:lstStyle/>
                    <a:p>
                      <a:pPr algn="l"/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.then((_) { ... })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Méthode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asynchrone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qui attend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l'application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stricte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de la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contrainte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matérielle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par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l'OS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avant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d'initialiser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et de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dessiner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l'application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 avec </a:t>
                      </a:r>
                      <a:r>
                        <a:rPr sz="1600" b="0" u="none" dirty="0" err="1">
                          <a:solidFill>
                            <a:schemeClr val="tx1"/>
                          </a:solidFill>
                        </a:rPr>
                        <a:t>runApp</a:t>
                      </a:r>
                      <a:r>
                        <a:rPr sz="1600" b="0" u="none" dirty="0">
                          <a:solidFill>
                            <a:schemeClr val="tx1"/>
                          </a:solidFill>
                        </a:rPr>
                        <a:t>.</a:t>
                      </a:r>
                      <a:endParaRPr sz="1600" b="0" i="0" u="none" dirty="0">
                        <a:solidFill>
                          <a:schemeClr val="tx1"/>
                        </a:solidFill>
                        <a:latin typeface="Plus Jakarta Sans"/>
                      </a:endParaRPr>
                    </a:p>
                  </a:txBody>
                  <a:tcPr marL="63500" marR="63500" marT="25400" marB="25400"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09625" y="760809"/>
            <a:ext cx="1125140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2. Explication de l'Orientation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666750" y="760809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66750" y="2225873"/>
            <a:ext cx="5238750" cy="2852737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>
            <a:clrChange>
              <a:clrFrom>
                <a:srgbClr val="F8FAFC"/>
              </a:clrFrom>
              <a:clrTo>
                <a:srgbClr val="F8FAFC">
                  <a:alpha val="0"/>
                </a:srgbClr>
              </a:clrTo>
            </a:clrChange>
            <a:duotone>
              <a:prstClr val="black"/>
              <a:schemeClr val="accent2">
                <a:tint val="45000"/>
                <a:satMod val="400000"/>
              </a:schemeClr>
            </a:duotone>
          </a:blip>
          <a:stretch>
            <a:fillRect/>
          </a:stretch>
        </p:blipFill>
        <p:spPr>
          <a:xfrm>
            <a:off x="6286500" y="2225873"/>
            <a:ext cx="5238750" cy="285273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66750" y="5316735"/>
            <a:ext cx="10858500" cy="205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5"/>
              </a:lnSpc>
            </a:pPr>
            <a:r>
              <a:rPr sz="1600" b="0" i="1" u="none" dirty="0">
                <a:latin typeface="Plus Jakarta Sans"/>
              </a:rPr>
              <a:t>💡 Note : Il est possible de combiner </a:t>
            </a:r>
            <a:r>
              <a:rPr sz="1600" b="0" i="1" u="none" dirty="0" err="1">
                <a:latin typeface="Plus Jakarta Sans"/>
              </a:rPr>
              <a:t>plusieurs</a:t>
            </a:r>
            <a:r>
              <a:rPr sz="1600" b="0" i="1" u="none" dirty="0">
                <a:latin typeface="Plus Jakarta Sans"/>
              </a:rPr>
              <a:t> orientations dans la </a:t>
            </a:r>
            <a:r>
              <a:rPr sz="1600" b="0" i="1" u="none" dirty="0" err="1">
                <a:latin typeface="Plus Jakarta Sans"/>
              </a:rPr>
              <a:t>liste</a:t>
            </a:r>
            <a:r>
              <a:rPr sz="1600" b="0" i="1" u="none" dirty="0">
                <a:latin typeface="Plus Jakarta Sans"/>
              </a:rPr>
              <a:t> (ex: </a:t>
            </a:r>
            <a:r>
              <a:rPr sz="1600" b="0" i="1" u="none" dirty="0" err="1">
                <a:latin typeface="Plus Jakarta Sans"/>
              </a:rPr>
              <a:t>portraitUp</a:t>
            </a:r>
            <a:r>
              <a:rPr sz="1600" b="0" i="1" u="none" dirty="0">
                <a:latin typeface="Plus Jakarta Sans"/>
              </a:rPr>
              <a:t> et </a:t>
            </a:r>
            <a:r>
              <a:rPr sz="1600" b="0" i="1" u="none" dirty="0" err="1">
                <a:latin typeface="Plus Jakarta Sans"/>
              </a:rPr>
              <a:t>portraitDown</a:t>
            </a:r>
            <a:r>
              <a:rPr sz="1600" b="0" i="1" u="none" dirty="0">
                <a:latin typeface="Plus Jakarta Sans"/>
              </a:rPr>
              <a:t>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886700"/>
            <a:ext cx="49806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 SemiBold"/>
              </a:rPr>
              <a:t>Mode Portrait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59348"/>
            <a:ext cx="4743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 err="1">
                <a:latin typeface="Plus Jakarta Sans SemiBold"/>
              </a:rPr>
              <a:t>DeviceOrientation.portraitUp</a:t>
            </a:r>
            <a:endParaRPr sz="1400" b="0" i="0" u="none" dirty="0">
              <a:latin typeface="Plus Jakarta Sans SemiBold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702248"/>
            <a:ext cx="47434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>
                <a:latin typeface="Plus Jakarta Sans"/>
              </a:rPr>
              <a:t>Orientation </a:t>
            </a:r>
            <a:r>
              <a:rPr sz="1200" b="0" i="0" u="none" dirty="0" err="1">
                <a:latin typeface="Plus Jakarta Sans"/>
              </a:rPr>
              <a:t>classique</a:t>
            </a:r>
            <a:r>
              <a:rPr sz="1200" b="0" i="0" u="none" dirty="0">
                <a:latin typeface="Plus Jakarta Sans"/>
              </a:rPr>
              <a:t> (haut de </a:t>
            </a:r>
            <a:r>
              <a:rPr sz="1200" b="0" i="0" u="none" dirty="0" err="1">
                <a:latin typeface="Plus Jakarta Sans"/>
              </a:rPr>
              <a:t>l'appareil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orienté</a:t>
            </a:r>
            <a:r>
              <a:rPr sz="1200" b="0" i="0" u="none" dirty="0">
                <a:latin typeface="Plus Jakarta Sans"/>
              </a:rPr>
              <a:t> vers le haut).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166592"/>
            <a:ext cx="4743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 err="1">
                <a:latin typeface="Plus Jakarta Sans SemiBold"/>
              </a:rPr>
              <a:t>DeviceOrientation.portraitDown</a:t>
            </a:r>
            <a:endParaRPr sz="1400" b="0" i="0" u="none" dirty="0">
              <a:latin typeface="Plus Jakarta Sans SemiBold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509492"/>
            <a:ext cx="47434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>
                <a:latin typeface="Plus Jakarta Sans"/>
              </a:rPr>
              <a:t>Orientation </a:t>
            </a:r>
            <a:r>
              <a:rPr sz="1200" b="0" i="0" u="none" dirty="0" err="1">
                <a:latin typeface="Plus Jakarta Sans"/>
              </a:rPr>
              <a:t>inversée</a:t>
            </a:r>
            <a:r>
              <a:rPr sz="1200" b="0" i="0" u="none" dirty="0">
                <a:latin typeface="Plus Jakarta Sans"/>
              </a:rPr>
              <a:t> (</a:t>
            </a:r>
            <a:r>
              <a:rPr sz="1200" b="0" i="0" u="none" dirty="0" err="1">
                <a:latin typeface="Plus Jakarta Sans"/>
              </a:rPr>
              <a:t>téléphone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orienté</a:t>
            </a:r>
            <a:r>
              <a:rPr sz="1200" b="0" i="0" u="none" dirty="0">
                <a:latin typeface="Plus Jakarta Sans"/>
              </a:rPr>
              <a:t> tête </a:t>
            </a:r>
            <a:r>
              <a:rPr sz="1200" b="0" i="0" u="none" dirty="0" err="1">
                <a:latin typeface="Plus Jakarta Sans"/>
              </a:rPr>
              <a:t>en</a:t>
            </a:r>
            <a:r>
              <a:rPr sz="1200" b="0" i="0" u="none" dirty="0">
                <a:latin typeface="Plus Jakarta Sans"/>
              </a:rPr>
              <a:t> bas).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6050" y="2808948"/>
            <a:ext cx="4980622" cy="27699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b="1" i="0" u="none" dirty="0">
                <a:solidFill>
                  <a:srgbClr val="0F172A"/>
                </a:solidFill>
                <a:latin typeface="Plus Jakarta Sans SemiBold"/>
              </a:rPr>
              <a:t>Mode </a:t>
            </a:r>
            <a:r>
              <a:rPr b="1" i="0" u="none" dirty="0" err="1">
                <a:solidFill>
                  <a:srgbClr val="0F172A"/>
                </a:solidFill>
                <a:latin typeface="Plus Jakarta Sans SemiBold"/>
              </a:rPr>
              <a:t>Paysage</a:t>
            </a:r>
            <a:endParaRPr b="1" i="0" u="none" dirty="0">
              <a:solidFill>
                <a:srgbClr val="0F172A"/>
              </a:solidFill>
              <a:latin typeface="Plus Jakarta Sans SemiBold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534150" y="3359348"/>
            <a:ext cx="4743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 err="1">
                <a:latin typeface="Plus Jakarta Sans SemiBold"/>
              </a:rPr>
              <a:t>DeviceOrientation.landscapeLeft</a:t>
            </a:r>
            <a:endParaRPr sz="1400" b="0" i="0" u="none" dirty="0">
              <a:latin typeface="Plus Jakarta Sans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34150" y="3702248"/>
            <a:ext cx="47434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>
                <a:latin typeface="Plus Jakarta Sans"/>
              </a:rPr>
              <a:t>Orientation </a:t>
            </a:r>
            <a:r>
              <a:rPr sz="1200" b="0" i="0" u="none" dirty="0" err="1">
                <a:latin typeface="Plus Jakarta Sans"/>
              </a:rPr>
              <a:t>paysage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orientée</a:t>
            </a:r>
            <a:r>
              <a:rPr sz="1200" b="0" i="0" u="none" dirty="0">
                <a:latin typeface="Plus Jakarta Sans"/>
              </a:rPr>
              <a:t> vers le </a:t>
            </a:r>
            <a:r>
              <a:rPr sz="1200" b="0" i="0" u="none" dirty="0" err="1">
                <a:latin typeface="Plus Jakarta Sans"/>
              </a:rPr>
              <a:t>côté</a:t>
            </a:r>
            <a:r>
              <a:rPr sz="1200" b="0" i="0" u="none" dirty="0">
                <a:latin typeface="Plus Jakarta Sans"/>
              </a:rPr>
              <a:t> gauche.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4150" y="4166592"/>
            <a:ext cx="474345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400" b="0" i="0" u="none" dirty="0" err="1">
                <a:latin typeface="Plus Jakarta Sans SemiBold"/>
              </a:rPr>
              <a:t>DeviceOrientation.landscapeRight</a:t>
            </a:r>
            <a:endParaRPr sz="1400" b="0" i="0" u="none" dirty="0">
              <a:latin typeface="Plus Jakarta Sans SemiBold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534150" y="4509492"/>
            <a:ext cx="4743450" cy="1945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31"/>
              </a:lnSpc>
            </a:pPr>
            <a:r>
              <a:rPr sz="1200" b="0" i="0" u="none" dirty="0">
                <a:latin typeface="Plus Jakarta Sans"/>
              </a:rPr>
              <a:t>Orientation </a:t>
            </a:r>
            <a:r>
              <a:rPr sz="1200" b="0" i="0" u="none" dirty="0" err="1">
                <a:latin typeface="Plus Jakarta Sans"/>
              </a:rPr>
              <a:t>paysage</a:t>
            </a:r>
            <a:r>
              <a:rPr sz="1200" b="0" i="0" u="none" dirty="0">
                <a:latin typeface="Plus Jakarta Sans"/>
              </a:rPr>
              <a:t> </a:t>
            </a:r>
            <a:r>
              <a:rPr sz="1200" b="0" i="0" u="none" dirty="0" err="1">
                <a:latin typeface="Plus Jakarta Sans"/>
              </a:rPr>
              <a:t>orientée</a:t>
            </a:r>
            <a:r>
              <a:rPr sz="1200" b="0" i="0" u="none" dirty="0">
                <a:latin typeface="Plus Jakarta Sans"/>
              </a:rPr>
              <a:t> vers le </a:t>
            </a:r>
            <a:r>
              <a:rPr sz="1200" b="0" i="0" u="none" dirty="0" err="1">
                <a:latin typeface="Plus Jakarta Sans"/>
              </a:rPr>
              <a:t>côté</a:t>
            </a:r>
            <a:r>
              <a:rPr sz="1200" b="0" i="0" u="none" dirty="0">
                <a:latin typeface="Plus Jakarta Sans"/>
              </a:rPr>
              <a:t> droit.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2324392"/>
            <a:ext cx="387458" cy="516611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6050" y="2324392"/>
            <a:ext cx="524682" cy="393512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09625" y="760809"/>
            <a:ext cx="11251406" cy="4286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700" b="1" i="0" u="none">
                <a:solidFill>
                  <a:srgbClr val="0F172A"/>
                </a:solidFill>
                <a:latin typeface="Plus Jakarta Sans"/>
              </a:rPr>
              <a:t>3. Orientations Disponibles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6750" y="760809"/>
            <a:ext cx="47625" cy="428625"/>
          </a:xfrm>
          <a:prstGeom prst="rect">
            <a:avLst/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69709" y="1404717"/>
            <a:ext cx="5420677" cy="4924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 i="0" u="none" dirty="0">
                <a:solidFill>
                  <a:srgbClr val="F8FAFC"/>
                </a:solidFill>
                <a:latin typeface="Plus Jakarta Sans"/>
              </a:rPr>
              <a:t>Questions</a:t>
            </a:r>
            <a:r>
              <a:rPr sz="1800" b="1" i="0" u="none" dirty="0">
                <a:solidFill>
                  <a:srgbClr val="F8FAFC"/>
                </a:solidFill>
                <a:latin typeface="Plus Jakarta Sans"/>
              </a:rPr>
              <a:t> &amp; </a:t>
            </a:r>
            <a:r>
              <a:rPr sz="2800" b="1" i="0" u="none" dirty="0" err="1">
                <a:solidFill>
                  <a:srgbClr val="F8FAFC"/>
                </a:solidFill>
                <a:latin typeface="Plus Jakarta Sans"/>
              </a:rPr>
              <a:t>Réponses</a:t>
            </a:r>
            <a:endParaRPr sz="1800" b="1" i="0" u="none" dirty="0">
              <a:solidFill>
                <a:srgbClr val="F8FAFC"/>
              </a:solidFill>
              <a:latin typeface="Plus Jakarta San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057165" y="2127622"/>
            <a:ext cx="51625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250"/>
              </a:lnSpc>
            </a:pPr>
            <a:r>
              <a:rPr b="0" i="0" u="none" dirty="0">
                <a:solidFill>
                  <a:srgbClr val="38BDF8"/>
                </a:solidFill>
                <a:latin typeface="Plus Jakarta Sans"/>
              </a:rPr>
              <a:t>Merci pour </a:t>
            </a:r>
            <a:r>
              <a:rPr b="0" i="0" u="none" dirty="0" err="1">
                <a:solidFill>
                  <a:srgbClr val="38BDF8"/>
                </a:solidFill>
                <a:latin typeface="Plus Jakarta Sans"/>
              </a:rPr>
              <a:t>votre</a:t>
            </a:r>
            <a:r>
              <a:rPr b="0" i="0" u="none" dirty="0">
                <a:solidFill>
                  <a:srgbClr val="38BDF8"/>
                </a:solidFill>
                <a:latin typeface="Plus Jakarta Sans"/>
              </a:rPr>
              <a:t> attention 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646819" y="2675752"/>
            <a:ext cx="5575661" cy="2464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Vous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pouvez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désormais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tester et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enrichir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</a:t>
            </a:r>
            <a:r>
              <a:rPr sz="1600" b="0" i="0" u="none" dirty="0" err="1">
                <a:solidFill>
                  <a:srgbClr val="CBD5E1"/>
                </a:solidFill>
                <a:latin typeface="Plus Jakarta Sans"/>
              </a:rPr>
              <a:t>vos</a:t>
            </a:r>
            <a:r>
              <a:rPr sz="1600" b="0" i="0" u="none" dirty="0">
                <a:solidFill>
                  <a:srgbClr val="CBD5E1"/>
                </a:solidFill>
                <a:latin typeface="Plus Jakarta Sans"/>
              </a:rPr>
              <a:t> applications Flutter.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92</TotalTime>
  <Words>827</Words>
  <Application>Microsoft Office PowerPoint</Application>
  <PresentationFormat>Grand écran</PresentationFormat>
  <Paragraphs>100</Paragraphs>
  <Slides>12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12</vt:i4>
      </vt:variant>
    </vt:vector>
  </HeadingPairs>
  <TitlesOfParts>
    <vt:vector size="18" baseType="lpstr">
      <vt:lpstr>Arial</vt:lpstr>
      <vt:lpstr>Calibri</vt:lpstr>
      <vt:lpstr>JetBrains Mono</vt:lpstr>
      <vt:lpstr>Plus Jakarta Sans</vt:lpstr>
      <vt:lpstr>Plus Jakarta Sans SemiBold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Souleymane Bah</cp:lastModifiedBy>
  <cp:revision>1</cp:revision>
  <dcterms:created xsi:type="dcterms:W3CDTF">2013-01-27T09:14:16Z</dcterms:created>
  <dcterms:modified xsi:type="dcterms:W3CDTF">2026-07-19T02:32:36Z</dcterms:modified>
  <cp:category/>
</cp:coreProperties>
</file>